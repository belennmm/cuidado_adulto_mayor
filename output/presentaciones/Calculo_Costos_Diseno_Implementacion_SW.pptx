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a0aa0fcef54ed2" /><Relationship Type="http://schemas.openxmlformats.org/officeDocument/2006/relationships/extended-properties" Target="/docProps/app.xml" Id="Re8701f5ba38240c5" /><Relationship Type="http://schemas.openxmlformats.org/officeDocument/2006/relationships/officeDocument" Target="/ppt/presentation.xml" Id="R65df143da7a14c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cec6a66204d8d"/>
  </p:sldMasterIdLst>
  <p:notesMasterIdLst>
    <p:notesMasterId xmlns:r="http://schemas.openxmlformats.org/officeDocument/2006/relationships" r:id="R4293fa9a20ba4bc4"/>
  </p:notesMasterIdLst>
  <p:sldIdLst>
    <p:sldId xmlns:r="http://schemas.openxmlformats.org/officeDocument/2006/relationships" id="256" r:id="Rc9db2b7104be4348"/>
    <p:sldId xmlns:r="http://schemas.openxmlformats.org/officeDocument/2006/relationships" id="257" r:id="R170c7ababd5c487c"/>
    <p:sldId xmlns:r="http://schemas.openxmlformats.org/officeDocument/2006/relationships" id="258" r:id="R8714e32a6c7a46f9"/>
    <p:sldId xmlns:r="http://schemas.openxmlformats.org/officeDocument/2006/relationships" id="259" r:id="Rd83eada0cd4346b9"/>
    <p:sldId xmlns:r="http://schemas.openxmlformats.org/officeDocument/2006/relationships" id="260" r:id="R6a45d5db76594948"/>
    <p:sldId xmlns:r="http://schemas.openxmlformats.org/officeDocument/2006/relationships" id="261" r:id="Reef51211a47742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6982734164f73" /><Relationship Type="http://schemas.openxmlformats.org/officeDocument/2006/relationships/slideMaster" Target="/ppt/slideMasters/slideMaster1.xml" Id="R3edcec6a66204d8d" /><Relationship Type="http://schemas.openxmlformats.org/officeDocument/2006/relationships/notesMaster" Target="/ppt/notesMasters/notesMaster1.xml" Id="R4293fa9a20ba4bc4" /><Relationship Type="http://schemas.openxmlformats.org/officeDocument/2006/relationships/presProps" Target="/ppt/presProps.xml" Id="R42ef0924be0a4228" /><Relationship Type="http://schemas.openxmlformats.org/officeDocument/2006/relationships/tableStyles" Target="/ppt/tableStyles.xml" Id="R1d4cad11b42b42e8" /><Relationship Type="http://schemas.openxmlformats.org/officeDocument/2006/relationships/slide" Target="/ppt/slides/slide1.xml" Id="Rc9db2b7104be4348" /><Relationship Type="http://schemas.openxmlformats.org/officeDocument/2006/relationships/slide" Target="/ppt/slides/slide2.xml" Id="R170c7ababd5c487c" /><Relationship Type="http://schemas.openxmlformats.org/officeDocument/2006/relationships/slide" Target="/ppt/slides/slide3.xml" Id="R8714e32a6c7a46f9" /><Relationship Type="http://schemas.openxmlformats.org/officeDocument/2006/relationships/slide" Target="/ppt/slides/slide4.xml" Id="Rd83eada0cd4346b9" /><Relationship Type="http://schemas.openxmlformats.org/officeDocument/2006/relationships/slide" Target="/ppt/slides/slide5.xml" Id="R6a45d5db76594948" /><Relationship Type="http://schemas.openxmlformats.org/officeDocument/2006/relationships/slide" Target="/ppt/slides/slide6.xml" Id="Reef51211a47742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946f464c646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0690f189d4396" /><Relationship Type="http://schemas.openxmlformats.org/officeDocument/2006/relationships/notesMaster" Target="/ppt/notesMasters/notesMaster1.xml" Id="R9636facc60594e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af1b62edb54a42" /><Relationship Type="http://schemas.openxmlformats.org/officeDocument/2006/relationships/notesMaster" Target="/ppt/notesMasters/notesMaster1.xml" Id="R0b3c43090c8549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6d36a35f5b4a90" /><Relationship Type="http://schemas.openxmlformats.org/officeDocument/2006/relationships/notesMaster" Target="/ppt/notesMasters/notesMaster1.xml" Id="R1f17c34b17a849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d00cc5631e4636" /><Relationship Type="http://schemas.openxmlformats.org/officeDocument/2006/relationships/notesMaster" Target="/ppt/notesMasters/notesMaster1.xml" Id="R3a29cf45d0b04a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236f0a6d204e57" /><Relationship Type="http://schemas.openxmlformats.org/officeDocument/2006/relationships/notesMaster" Target="/ppt/notesMasters/notesMaster1.xml" Id="Ra87c901a3fbe45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18df3e0c5a4d20" /><Relationship Type="http://schemas.openxmlformats.org/officeDocument/2006/relationships/notesMaster" Target="/ppt/notesMasters/notesMaster1.xml" Id="R57771e419f334a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README.md, docker-compose.yml, frontend/package.json y backend/composer.json.</a:t>
            </a:r>
          </a:p>
          <a:p xmlns:a="http://schemas.openxmlformats.org/drawingml/2006/main">
            <a:r>
              <a:t>- Referencia visual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README.md, docker-compose.yml, frontend/package.json y backend/composer.json.</a:t>
            </a:r>
          </a:p>
          <a:p xmlns:a="http://schemas.openxmlformats.org/drawingml/2006/main">
            <a:r>
              <a:t>- Referencia visual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README.md, docker-compose.yml, frontend/package.json y backend/composer.json.</a:t>
            </a:r>
          </a:p>
          <a:p xmlns:a="http://schemas.openxmlformats.org/drawingml/2006/main">
            <a:r>
              <a:t>- Referencia visual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README.md, docker-compose.yml, frontend/package.json y backend/composer.json.</a:t>
            </a:r>
          </a:p>
          <a:p xmlns:a="http://schemas.openxmlformats.org/drawingml/2006/main">
            <a:r>
              <a:t>- Referencia visual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README.md, docker-compose.yml, frontend/package.json y backend/composer.json.</a:t>
            </a:r>
          </a:p>
          <a:p xmlns:a="http://schemas.openxmlformats.org/drawingml/2006/main">
            <a:r>
              <a:t>- Referencia visual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Proyecto local: README.md, docker-compose.yml, frontend/package.json y backend/composer.json.</a:t>
            </a:r>
          </a:p>
          <a:p xmlns:a="http://schemas.openxmlformats.org/drawingml/2006/main">
            <a:r>
              <a:t>- Referencia visual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7f4cc779646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1b8c07d6a64ecf" /><Relationship Type="http://schemas.openxmlformats.org/officeDocument/2006/relationships/slideLayout" Target="/ppt/slideLayouts/slideLayout1.xml" Id="R05cacc2353dc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cacc2353dc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b731900cf4e43" /><Relationship Type="http://schemas.openxmlformats.org/officeDocument/2006/relationships/notesSlide" Target="/ppt/notesSlides/notesSlide1.xml" Id="R4631a07d379442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0afc4ba034ad5" /><Relationship Type="http://schemas.openxmlformats.org/officeDocument/2006/relationships/notesSlide" Target="/ppt/notesSlides/notesSlide2.xml" Id="R74e81280aa3e43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45301861c445a" /><Relationship Type="http://schemas.openxmlformats.org/officeDocument/2006/relationships/notesSlide" Target="/ppt/notesSlides/notesSlide3.xml" Id="R0864b6f5a84744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de14127204036" /><Relationship Type="http://schemas.openxmlformats.org/officeDocument/2006/relationships/notesSlide" Target="/ppt/notesSlides/notesSlide4.xml" Id="R1ae86aef1e0041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f24dc7dc47ab" /><Relationship Type="http://schemas.openxmlformats.org/officeDocument/2006/relationships/notesSlide" Target="/ppt/notesSlides/notesSlide5.xml" Id="R8ee6f7c2e4cc42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10e389b074c70" /><Relationship Type="http://schemas.openxmlformats.org/officeDocument/2006/relationships/notesSlide" Target="/ppt/notesSlides/notesSlide6.xml" Id="R9ad4634d71714e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ight-sidebar">
            <a:extLst xmlns:a="http://schemas.openxmlformats.org/drawingml/2006/main">
              <a:ext uri="{FF2B5EF4-FFF2-40B4-BE49-F238E27FC236}">
                <a16:creationId xmlns:a16="http://schemas.microsoft.com/office/drawing/2014/main" id="{F0577A7F-88DB-494D-BC6E-48117D9A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idebar-accent">
            <a:extLst xmlns:a="http://schemas.openxmlformats.org/drawingml/2006/main">
              <a:ext uri="{FF2B5EF4-FFF2-40B4-BE49-F238E27FC236}">
                <a16:creationId xmlns:a16="http://schemas.microsoft.com/office/drawing/2014/main" id="{A47D22F7-445E-4B32-9554-B5C27642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9DCCEC-9A6C-4083-904A-FB62A2F8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67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71920"/>
                </a:solidFill>
              </a:defRPr>
            </a:pPr>
            <a:r>
              <a:rPr sz="3150" b="1">
                <a:solidFill>
                  <a:srgbClr val="C71920"/>
                </a:solidFill>
              </a:rPr>
              <a:t>Cálculo de Costos del Software</a:t>
            </a:r>
          </a:p>
        </p:txBody>
      </p:sp>
      <p:sp>
        <p:nvSpPr>
          <p:cNvPr id="4" name="title-rule-shadow">
            <a:extLst xmlns:a="http://schemas.openxmlformats.org/drawingml/2006/main">
              <a:ext uri="{FF2B5EF4-FFF2-40B4-BE49-F238E27FC236}">
                <a16:creationId xmlns:a16="http://schemas.microsoft.com/office/drawing/2014/main" id="{11A411E8-8303-48BD-ABDC-E9DE6233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5727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1F718B-D677-4BAC-B531-7DAD2FE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477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FAC0B8E-794F-4546-80DB-DDCCE955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Planificación y Estimación · Organízate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072EB2-CE03-49E1-A1D7-C786504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29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" name="side-page-number">
            <a:extLst xmlns:a="http://schemas.openxmlformats.org/drawingml/2006/main">
              <a:ext uri="{FF2B5EF4-FFF2-40B4-BE49-F238E27FC236}">
                <a16:creationId xmlns:a16="http://schemas.microsoft.com/office/drawing/2014/main" id="{E741F132-5907-40CC-B0B0-7910F31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1 de 6</a:t>
            </a:r>
          </a:p>
        </p:txBody>
      </p:sp>
      <p:sp>
        <p:nvSpPr>
          <p:cNvPr id="9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6D182F0-7C8F-4A9B-8D1C-166C803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Diseño e implementación de “Organízate”</a:t>
            </a:r>
          </a:p>
        </p:txBody>
      </p:sp>
      <p:sp>
        <p:nvSpPr>
          <p:cNvPr id="10" name="bullet-mark-300">
            <a:extLst xmlns:a="http://schemas.openxmlformats.org/drawingml/2006/main">
              <a:ext uri="{FF2B5EF4-FFF2-40B4-BE49-F238E27FC236}">
                <a16:creationId xmlns:a16="http://schemas.microsoft.com/office/drawing/2014/main" id="{FD6B65A6-117B-4183-BEE0-FDF595E7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575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1920"/>
                </a:solidFill>
              </a:defRPr>
            </a:pPr>
            <a:r>
              <a:rPr sz="255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1" name="bullet-text-300">
            <a:extLst xmlns:a="http://schemas.openxmlformats.org/drawingml/2006/main">
              <a:ext uri="{FF2B5EF4-FFF2-40B4-BE49-F238E27FC236}">
                <a16:creationId xmlns:a16="http://schemas.microsoft.com/office/drawing/2014/main" id="{85468375-3FC2-4903-9395-B938ACAA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El presupuesto debe cubrir todo el ciclo de vida, no solamente la programación.</a:t>
            </a:r>
          </a:p>
        </p:txBody>
      </p:sp>
      <p:sp>
        <p:nvSpPr>
          <p:cNvPr id="12" name="bullet-mark-420">
            <a:extLst xmlns:a="http://schemas.openxmlformats.org/drawingml/2006/main">
              <a:ext uri="{FF2B5EF4-FFF2-40B4-BE49-F238E27FC236}">
                <a16:creationId xmlns:a16="http://schemas.microsoft.com/office/drawing/2014/main" id="{7EBECD33-2A9A-4AE3-BA5B-9588613C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1920"/>
                </a:solidFill>
              </a:defRPr>
            </a:pPr>
            <a:r>
              <a:rPr sz="255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3" name="bullet-text-420">
            <a:extLst xmlns:a="http://schemas.openxmlformats.org/drawingml/2006/main">
              <a:ext uri="{FF2B5EF4-FFF2-40B4-BE49-F238E27FC236}">
                <a16:creationId xmlns:a16="http://schemas.microsoft.com/office/drawing/2014/main" id="{D73A91EB-1B5F-485E-B111-49EC9D27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La estimación parte del alcance, las horas de trabajo, las tarifas y los riesgos.</a:t>
            </a:r>
          </a:p>
        </p:txBody>
      </p:sp>
      <p:sp>
        <p:nvSpPr>
          <p:cNvPr id="14" name="opening-callout">
            <a:extLst xmlns:a="http://schemas.openxmlformats.org/drawingml/2006/main">
              <a:ext uri="{FF2B5EF4-FFF2-40B4-BE49-F238E27FC236}">
                <a16:creationId xmlns:a16="http://schemas.microsoft.com/office/drawing/2014/main" id="{0AAE006C-A61F-4F9E-AB9C-61D2B7D0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19050">
            <a:solidFill>
              <a:srgbClr val="C71920"/>
            </a:solidFill>
            <a:prstDash val="solid"/>
          </a:ln>
        </p:spPr>
      </p:sp>
      <p:sp>
        <p:nvSpPr>
          <p:cNvPr id="15" name="opening-formula">
            <a:extLst xmlns:a="http://schemas.openxmlformats.org/drawingml/2006/main">
              <a:ext uri="{FF2B5EF4-FFF2-40B4-BE49-F238E27FC236}">
                <a16:creationId xmlns:a16="http://schemas.microsoft.com/office/drawing/2014/main" id="{FD16470F-1961-42D2-9729-AA1998DE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Costo total = Diseño + Implementación + Pruebas + Despliegue + Contingencia</a:t>
            </a:r>
          </a:p>
        </p:txBody>
      </p:sp>
    </p:spTree>
    <p:extLst>
      <p:ext uri="{BB962C8B-B14F-4D97-AF65-F5344CB8AC3E}">
        <p14:creationId xmlns:p14="http://schemas.microsoft.com/office/powerpoint/2010/main" val="1328207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ight-sidebar">
            <a:extLst xmlns:a="http://schemas.openxmlformats.org/drawingml/2006/main">
              <a:ext uri="{FF2B5EF4-FFF2-40B4-BE49-F238E27FC236}">
                <a16:creationId xmlns:a16="http://schemas.microsoft.com/office/drawing/2014/main" id="{ABAAB11A-789C-4B63-A146-137AE35E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idebar-accent">
            <a:extLst xmlns:a="http://schemas.openxmlformats.org/drawingml/2006/main">
              <a:ext uri="{FF2B5EF4-FFF2-40B4-BE49-F238E27FC236}">
                <a16:creationId xmlns:a16="http://schemas.microsoft.com/office/drawing/2014/main" id="{BB4DDF9C-6CB9-4EFA-AF69-F772D51A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0440B7-F790-4D32-8030-9D79E00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67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71920"/>
                </a:solidFill>
              </a:defRPr>
            </a:pPr>
            <a:r>
              <a:rPr sz="3150" b="1">
                <a:solidFill>
                  <a:srgbClr val="C71920"/>
                </a:solidFill>
              </a:rPr>
              <a:t>Distribución del Esfuerzo</a:t>
            </a:r>
          </a:p>
        </p:txBody>
      </p:sp>
      <p:sp>
        <p:nvSpPr>
          <p:cNvPr id="4" name="title-rule-shadow">
            <a:extLst xmlns:a="http://schemas.openxmlformats.org/drawingml/2006/main">
              <a:ext uri="{FF2B5EF4-FFF2-40B4-BE49-F238E27FC236}">
                <a16:creationId xmlns:a16="http://schemas.microsoft.com/office/drawing/2014/main" id="{31F1C26A-FA92-45CF-AC88-1E05F9B3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5727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4BB5C2-CADD-4D1D-B56F-292B8BA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477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6207647-D1BC-467A-9A39-733BA7F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Planificación y Estimación · Organízate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16127A-E5BB-4716-90C2-2E6FEB8F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29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8" name="side-page-number">
            <a:extLst xmlns:a="http://schemas.openxmlformats.org/drawingml/2006/main">
              <a:ext uri="{FF2B5EF4-FFF2-40B4-BE49-F238E27FC236}">
                <a16:creationId xmlns:a16="http://schemas.microsoft.com/office/drawing/2014/main" id="{9B033B1C-BE7E-4539-B66C-14F224E7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2 de 6</a:t>
            </a:r>
          </a:p>
        </p:txBody>
      </p:sp>
      <p:sp>
        <p:nvSpPr>
          <p:cNvPr id="9" name="bullet-mark-150">
            <a:extLst xmlns:a="http://schemas.openxmlformats.org/drawingml/2006/main">
              <a:ext uri="{FF2B5EF4-FFF2-40B4-BE49-F238E27FC236}">
                <a16:creationId xmlns:a16="http://schemas.microsoft.com/office/drawing/2014/main" id="{C8051E63-9805-465C-92ED-78A6848E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287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71920"/>
                </a:solidFill>
              </a:defRPr>
            </a:pPr>
            <a:r>
              <a:rPr sz="23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ullet-text-150">
            <a:extLst xmlns:a="http://schemas.openxmlformats.org/drawingml/2006/main">
              <a:ext uri="{FF2B5EF4-FFF2-40B4-BE49-F238E27FC236}">
                <a16:creationId xmlns:a16="http://schemas.microsoft.com/office/drawing/2014/main" id="{623FB56E-134B-4207-BE00-7DD0FBA4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Una distribución de referencia reparte el esfuerzo total entre las principales actividades: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0050" y="2476500"/>
          <a:ext xmlns:a="http://schemas.openxmlformats.org/drawingml/2006/main" cx="10191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29527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</a:rPr>
                        <a:t>Tipo de actividad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</a:rPr>
                        <a:t>Porcentaje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</a:rPr>
                        <a:t>Análisis</a:t>
                      </a: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11111"/>
                          </a:solidFill>
                        </a:rPr>
                        <a:t>10 %</a:t>
                      </a:r>
                    </a:p>
                  </a:txBody>
                  <a:tcPr marL="133350" marR="133350" marT="57150" marB="57150" anchor="ctr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</a:rPr>
                        <a:t>Diseño</a:t>
                      </a: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11111"/>
                          </a:solidFill>
                        </a:rPr>
                        <a:t>20 %</a:t>
                      </a:r>
                    </a:p>
                  </a:txBody>
                  <a:tcPr marL="133350" marR="133350" marT="57150" marB="57150" anchor="ctr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C71920"/>
                          </a:solidFill>
                        </a:rPr>
                        <a:t>Implementación</a:t>
                      </a:r>
                    </a:p>
                  </a:txBody>
                  <a:tcPr marL="133350" marR="133350" marT="57150" marB="57150" anchor="ctr"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11111"/>
                          </a:solidFill>
                        </a:rPr>
                        <a:t>40 %</a:t>
                      </a:r>
                    </a:p>
                  </a:txBody>
                  <a:tcPr marL="133350" marR="133350" marT="57150" marB="57150" anchor="ctr">
                    <a:solidFill>
                      <a:srgbClr val="FFF4F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</a:rPr>
                        <a:t>Pruebas</a:t>
                      </a: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11111"/>
                          </a:solidFill>
                        </a:rPr>
                        <a:t>15 %</a:t>
                      </a:r>
                    </a:p>
                  </a:txBody>
                  <a:tcPr marL="133350" marR="133350" marT="57150" marB="57150" anchor="ctr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</a:rPr>
                        <a:t>Sobrecarga (otras actividades)</a:t>
                      </a: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11111"/>
                          </a:solidFill>
                        </a:rPr>
                        <a:t>15 %</a:t>
                      </a: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37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ight-sidebar">
            <a:extLst xmlns:a="http://schemas.openxmlformats.org/drawingml/2006/main">
              <a:ext uri="{FF2B5EF4-FFF2-40B4-BE49-F238E27FC236}">
                <a16:creationId xmlns:a16="http://schemas.microsoft.com/office/drawing/2014/main" id="{06807CD8-9EAD-43E7-AB8B-E7B1CC41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idebar-accent">
            <a:extLst xmlns:a="http://schemas.openxmlformats.org/drawingml/2006/main">
              <a:ext uri="{FF2B5EF4-FFF2-40B4-BE49-F238E27FC236}">
                <a16:creationId xmlns:a16="http://schemas.microsoft.com/office/drawing/2014/main" id="{5F08E456-459B-4110-9F9C-F076F882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CDDE82-35DB-4A0A-B032-E926593B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67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71920"/>
                </a:solidFill>
              </a:defRPr>
            </a:pPr>
            <a:r>
              <a:rPr sz="3150" b="1">
                <a:solidFill>
                  <a:srgbClr val="C71920"/>
                </a:solidFill>
              </a:rPr>
              <a:t>Costos del Diseño</a:t>
            </a:r>
          </a:p>
        </p:txBody>
      </p:sp>
      <p:sp>
        <p:nvSpPr>
          <p:cNvPr id="4" name="title-rule-shadow">
            <a:extLst xmlns:a="http://schemas.openxmlformats.org/drawingml/2006/main">
              <a:ext uri="{FF2B5EF4-FFF2-40B4-BE49-F238E27FC236}">
                <a16:creationId xmlns:a16="http://schemas.microsoft.com/office/drawing/2014/main" id="{0807D80C-6FBA-460F-B158-B939F6C4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5727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DE6DDE-1E21-492B-90B8-1AEC1B2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477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50C9D8D-14A7-4938-8043-CCC0E89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Planificación y Estimación · Organízate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210146-DE21-4D02-AB3A-BCE55D1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29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8" name="side-page-number">
            <a:extLst xmlns:a="http://schemas.openxmlformats.org/drawingml/2006/main">
              <a:ext uri="{FF2B5EF4-FFF2-40B4-BE49-F238E27FC236}">
                <a16:creationId xmlns:a16="http://schemas.microsoft.com/office/drawing/2014/main" id="{BEE106E1-C1F1-4296-AF55-B1B391E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3 de 6</a:t>
            </a:r>
          </a:p>
        </p:txBody>
      </p:sp>
      <p:sp>
        <p:nvSpPr>
          <p:cNvPr id="9" name="bullet-mark-145">
            <a:extLst xmlns:a="http://schemas.openxmlformats.org/drawingml/2006/main">
              <a:ext uri="{FF2B5EF4-FFF2-40B4-BE49-F238E27FC236}">
                <a16:creationId xmlns:a16="http://schemas.microsoft.com/office/drawing/2014/main" id="{35C38835-5B44-4550-ACE9-9ADA08C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71920"/>
                </a:solidFill>
              </a:defRPr>
            </a:pPr>
            <a:r>
              <a:rPr sz="23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ullet-text-145">
            <a:extLst xmlns:a="http://schemas.openxmlformats.org/drawingml/2006/main">
              <a:ext uri="{FF2B5EF4-FFF2-40B4-BE49-F238E27FC236}">
                <a16:creationId xmlns:a16="http://schemas.microsoft.com/office/drawing/2014/main" id="{9BE65472-38E2-41DA-9B94-EFFB82C4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El diseño transforma los requisitos en una solución técnica y visual antes de programar.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400050" y="2428875"/>
          <a:ext xmlns:a="http://schemas.openxmlformats.org/drawingml/2006/main" cx="10191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6905625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/>
                        <a:t>Actividad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/>
                        <a:t>Entregable que se estima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/>
                        <a:t>Análisis de requisitos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Alcance, historias de usuario y criterios de aceptación</a:t>
                      </a:r>
                    </a:p>
                  </a:txBody>
                  <a:tcPr marL="114300" marR="114300" marT="47625" marB="47625" anchor="ctr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/>
                        <a:t>Arquitectura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Frontend, backend, API, seguridad e infraestructura</a:t>
                      </a:r>
                    </a:p>
                  </a:txBody>
                  <a:tcPr marL="114300" marR="114300" marT="47625" marB="47625" anchor="ctr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/>
                        <a:t>Base de datos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Entidades, relaciones, migraciones e integridad</a:t>
                      </a:r>
                    </a:p>
                  </a:txBody>
                  <a:tcPr marL="114300" marR="114300" marT="47625" marB="47625" anchor="ctr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/>
                        <a:t>UX/UI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Flujos, prototipos, navegación por roles y accesibilidad</a:t>
                      </a:r>
                    </a:p>
                  </a:txBody>
                  <a:tcPr marL="114300" marR="114300" marT="47625" marB="47625" anchor="ctr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/>
                        <a:t>Documentación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Diagramas, especificaciones y decisiones técnicas</a:t>
                      </a:r>
                    </a:p>
                  </a:txBody>
                  <a:tcPr marL="114300" marR="114300" marT="47625" marB="47625" anchor="ctr"/>
                </a:tc>
              </a:tr>
            </a:tbl>
          </a:graphicData>
        </a:graphic>
      </p:graphicFrame>
      <p:sp>
        <p:nvSpPr>
          <p:cNvPr id="12" name="design-formula">
            <a:extLst xmlns:a="http://schemas.openxmlformats.org/drawingml/2006/main">
              <a:ext uri="{FF2B5EF4-FFF2-40B4-BE49-F238E27FC236}">
                <a16:creationId xmlns:a16="http://schemas.microsoft.com/office/drawing/2014/main" id="{E2F117D6-ACD5-4C5F-BA91-2993A1B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1920"/>
                </a:solidFill>
              </a:defRPr>
            </a:pPr>
            <a:r>
              <a:rPr sz="1650" b="1">
                <a:solidFill>
                  <a:srgbClr val="C71920"/>
                </a:solidFill>
              </a:rPr>
              <a:t>Costo de diseño = Σ (horas por actividad × tarifa del perfil)</a:t>
            </a:r>
          </a:p>
        </p:txBody>
      </p:sp>
    </p:spTree>
    <p:extLst>
      <p:ext uri="{BB962C8B-B14F-4D97-AF65-F5344CB8AC3E}">
        <p14:creationId xmlns:p14="http://schemas.microsoft.com/office/powerpoint/2010/main" val="1587792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ight-sidebar">
            <a:extLst xmlns:a="http://schemas.openxmlformats.org/drawingml/2006/main">
              <a:ext uri="{FF2B5EF4-FFF2-40B4-BE49-F238E27FC236}">
                <a16:creationId xmlns:a16="http://schemas.microsoft.com/office/drawing/2014/main" id="{FAE12B86-2F76-4300-B9B2-C60399A6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idebar-accent">
            <a:extLst xmlns:a="http://schemas.openxmlformats.org/drawingml/2006/main">
              <a:ext uri="{FF2B5EF4-FFF2-40B4-BE49-F238E27FC236}">
                <a16:creationId xmlns:a16="http://schemas.microsoft.com/office/drawing/2014/main" id="{1537DCA8-6F83-407C-AAA8-5A60501F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339D4-C7F7-4C5A-8F48-67CDCA48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67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71920"/>
                </a:solidFill>
              </a:defRPr>
            </a:pPr>
            <a:r>
              <a:rPr sz="3150" b="1">
                <a:solidFill>
                  <a:srgbClr val="C71920"/>
                </a:solidFill>
              </a:rPr>
              <a:t>Costos de Implementación</a:t>
            </a:r>
          </a:p>
        </p:txBody>
      </p:sp>
      <p:sp>
        <p:nvSpPr>
          <p:cNvPr id="4" name="title-rule-shadow">
            <a:extLst xmlns:a="http://schemas.openxmlformats.org/drawingml/2006/main">
              <a:ext uri="{FF2B5EF4-FFF2-40B4-BE49-F238E27FC236}">
                <a16:creationId xmlns:a16="http://schemas.microsoft.com/office/drawing/2014/main" id="{1C70DBC7-6BBC-492C-AB61-308F784B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5727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8E00CD-C0DD-4A68-B4D7-570FAC31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477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0F13EAB-FEEB-4FBD-B90A-6CC33313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Planificación y Estimación · Organízate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BCB3EB-3B75-4969-B155-DEF7B26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29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8" name="side-page-number">
            <a:extLst xmlns:a="http://schemas.openxmlformats.org/drawingml/2006/main">
              <a:ext uri="{FF2B5EF4-FFF2-40B4-BE49-F238E27FC236}">
                <a16:creationId xmlns:a16="http://schemas.microsoft.com/office/drawing/2014/main" id="{C189F03E-2A09-48C5-ACD5-B695C292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4 de 6</a:t>
            </a:r>
          </a:p>
        </p:txBody>
      </p:sp>
      <p:sp>
        <p:nvSpPr>
          <p:cNvPr id="9" name="bullet-mark-145">
            <a:extLst xmlns:a="http://schemas.openxmlformats.org/drawingml/2006/main">
              <a:ext uri="{FF2B5EF4-FFF2-40B4-BE49-F238E27FC236}">
                <a16:creationId xmlns:a16="http://schemas.microsoft.com/office/drawing/2014/main" id="{3C4F7019-BD7C-4DBC-A427-C9820D16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71920"/>
                </a:solidFill>
              </a:defRPr>
            </a:pPr>
            <a:r>
              <a:rPr sz="23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ullet-text-145">
            <a:extLst xmlns:a="http://schemas.openxmlformats.org/drawingml/2006/main">
              <a:ext uri="{FF2B5EF4-FFF2-40B4-BE49-F238E27FC236}">
                <a16:creationId xmlns:a16="http://schemas.microsoft.com/office/drawing/2014/main" id="{624486B3-44CF-45A4-A95D-89234B97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La implementación concentra el mayor esfuerzo porque convierte el diseño en funciones operativas.</a:t>
            </a:r>
          </a:p>
        </p:txBody>
      </p:sp>
      <p:sp>
        <p:nvSpPr>
          <p:cNvPr id="11" name="impl-head-Frontend">
            <a:extLst xmlns:a="http://schemas.openxmlformats.org/drawingml/2006/main">
              <a:ext uri="{FF2B5EF4-FFF2-40B4-BE49-F238E27FC236}">
                <a16:creationId xmlns:a16="http://schemas.microsoft.com/office/drawing/2014/main" id="{7B87E2B2-D41C-41A6-B045-90EECD0E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1920"/>
                </a:solidFill>
              </a:defRPr>
            </a:pPr>
            <a:r>
              <a:rPr sz="1725" b="1">
                <a:solidFill>
                  <a:srgbClr val="C71920"/>
                </a:solidFill>
              </a:rPr>
              <a:t>Frontend</a:t>
            </a:r>
          </a:p>
        </p:txBody>
      </p:sp>
      <p:sp>
        <p:nvSpPr>
          <p:cNvPr id="12" name="impl-body-Frontend">
            <a:extLst xmlns:a="http://schemas.openxmlformats.org/drawingml/2006/main">
              <a:ext uri="{FF2B5EF4-FFF2-40B4-BE49-F238E27FC236}">
                <a16:creationId xmlns:a16="http://schemas.microsoft.com/office/drawing/2014/main" id="{3E9C824B-C4EF-4F8A-B4F8-27C61DF7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HTML, CSS, JavaScript, interfaces y consumo de la API</a:t>
            </a:r>
          </a:p>
        </p:txBody>
      </p:sp>
      <p:sp>
        <p:nvSpPr>
          <p:cNvPr id="13" name="impl-rule-Frontend">
            <a:extLst xmlns:a="http://schemas.openxmlformats.org/drawingml/2006/main">
              <a:ext uri="{FF2B5EF4-FFF2-40B4-BE49-F238E27FC236}">
                <a16:creationId xmlns:a16="http://schemas.microsoft.com/office/drawing/2014/main" id="{7EE0D3AD-70B1-4F48-A215-0EE83CE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mpl-head-Backend">
            <a:extLst xmlns:a="http://schemas.openxmlformats.org/drawingml/2006/main">
              <a:ext uri="{FF2B5EF4-FFF2-40B4-BE49-F238E27FC236}">
                <a16:creationId xmlns:a16="http://schemas.microsoft.com/office/drawing/2014/main" id="{3E3BE09B-1752-47B5-B5C8-53258BD7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1920"/>
                </a:solidFill>
              </a:defRPr>
            </a:pPr>
            <a:r>
              <a:rPr sz="1725" b="1">
                <a:solidFill>
                  <a:srgbClr val="C71920"/>
                </a:solidFill>
              </a:rPr>
              <a:t>Backend</a:t>
            </a:r>
          </a:p>
        </p:txBody>
      </p:sp>
      <p:sp>
        <p:nvSpPr>
          <p:cNvPr id="15" name="impl-body-Backend">
            <a:extLst xmlns:a="http://schemas.openxmlformats.org/drawingml/2006/main">
              <a:ext uri="{FF2B5EF4-FFF2-40B4-BE49-F238E27FC236}">
                <a16:creationId xmlns:a16="http://schemas.microsoft.com/office/drawing/2014/main" id="{3738742C-9A3A-4EEE-BD8A-F63F705C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432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PHP/Laravel, reglas de negocio, modelos y controladores</a:t>
            </a:r>
          </a:p>
        </p:txBody>
      </p:sp>
      <p:sp>
        <p:nvSpPr>
          <p:cNvPr id="16" name="impl-rule-Backend">
            <a:extLst xmlns:a="http://schemas.openxmlformats.org/drawingml/2006/main">
              <a:ext uri="{FF2B5EF4-FFF2-40B4-BE49-F238E27FC236}">
                <a16:creationId xmlns:a16="http://schemas.microsoft.com/office/drawing/2014/main" id="{6FFFC82D-CF5F-48F5-A060-FDDBE5E1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pl-head-Datos">
            <a:extLst xmlns:a="http://schemas.openxmlformats.org/drawingml/2006/main">
              <a:ext uri="{FF2B5EF4-FFF2-40B4-BE49-F238E27FC236}">
                <a16:creationId xmlns:a16="http://schemas.microsoft.com/office/drawing/2014/main" id="{26A3D29C-5960-4190-B68C-463084FD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1920"/>
                </a:solidFill>
              </a:defRPr>
            </a:pPr>
            <a:r>
              <a:rPr sz="1725" b="1">
                <a:solidFill>
                  <a:srgbClr val="C71920"/>
                </a:solidFill>
              </a:rPr>
              <a:t>Datos</a:t>
            </a:r>
          </a:p>
        </p:txBody>
      </p:sp>
      <p:sp>
        <p:nvSpPr>
          <p:cNvPr id="18" name="impl-body-Datos">
            <a:extLst xmlns:a="http://schemas.openxmlformats.org/drawingml/2006/main">
              <a:ext uri="{FF2B5EF4-FFF2-40B4-BE49-F238E27FC236}">
                <a16:creationId xmlns:a16="http://schemas.microsoft.com/office/drawing/2014/main" id="{11B768F6-3E83-4171-95BF-E84CC2F5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PostgreSQL, migraciones, consultas, integridad y respaldos</a:t>
            </a:r>
          </a:p>
        </p:txBody>
      </p:sp>
      <p:sp>
        <p:nvSpPr>
          <p:cNvPr id="19" name="impl-rule-Datos">
            <a:extLst xmlns:a="http://schemas.openxmlformats.org/drawingml/2006/main">
              <a:ext uri="{FF2B5EF4-FFF2-40B4-BE49-F238E27FC236}">
                <a16:creationId xmlns:a16="http://schemas.microsoft.com/office/drawing/2014/main" id="{503656F7-E1A9-401E-B13E-5E2B6DC4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mpl-head-Integración">
            <a:extLst xmlns:a="http://schemas.openxmlformats.org/drawingml/2006/main">
              <a:ext uri="{FF2B5EF4-FFF2-40B4-BE49-F238E27FC236}">
                <a16:creationId xmlns:a16="http://schemas.microsoft.com/office/drawing/2014/main" id="{ED5AD0E0-B300-4B48-8A7C-7A4AB54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1920"/>
                </a:solidFill>
              </a:defRPr>
            </a:pPr>
            <a:r>
              <a:rPr sz="1725" b="1">
                <a:solidFill>
                  <a:srgbClr val="C71920"/>
                </a:solidFill>
              </a:rPr>
              <a:t>Integración</a:t>
            </a:r>
          </a:p>
        </p:txBody>
      </p:sp>
      <p:sp>
        <p:nvSpPr>
          <p:cNvPr id="21" name="impl-body-Integración">
            <a:extLst xmlns:a="http://schemas.openxmlformats.org/drawingml/2006/main">
              <a:ext uri="{FF2B5EF4-FFF2-40B4-BE49-F238E27FC236}">
                <a16:creationId xmlns:a16="http://schemas.microsoft.com/office/drawing/2014/main" id="{3A9FEFE9-F035-461B-9293-3A8A528E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Autenticación, Laravel Sanctum y permisos por roles</a:t>
            </a:r>
          </a:p>
        </p:txBody>
      </p:sp>
      <p:sp>
        <p:nvSpPr>
          <p:cNvPr id="22" name="impl-rule-Integración">
            <a:extLst xmlns:a="http://schemas.openxmlformats.org/drawingml/2006/main">
              <a:ext uri="{FF2B5EF4-FFF2-40B4-BE49-F238E27FC236}">
                <a16:creationId xmlns:a16="http://schemas.microsoft.com/office/drawing/2014/main" id="{F398D58C-5BEB-45F3-A3C0-096279B3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mpl-head-Infraestructura">
            <a:extLst xmlns:a="http://schemas.openxmlformats.org/drawingml/2006/main">
              <a:ext uri="{FF2B5EF4-FFF2-40B4-BE49-F238E27FC236}">
                <a16:creationId xmlns:a16="http://schemas.microsoft.com/office/drawing/2014/main" id="{34BBB8E3-F563-4C75-8EE7-5AADBB05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1920"/>
                </a:solidFill>
              </a:defRPr>
            </a:pPr>
            <a:r>
              <a:rPr sz="1725" b="1">
                <a:solidFill>
                  <a:srgbClr val="C71920"/>
                </a:solidFill>
              </a:rPr>
              <a:t>Infraestructura</a:t>
            </a:r>
          </a:p>
        </p:txBody>
      </p:sp>
      <p:sp>
        <p:nvSpPr>
          <p:cNvPr id="24" name="impl-body-Infraestructura">
            <a:extLst xmlns:a="http://schemas.openxmlformats.org/drawingml/2006/main">
              <a:ext uri="{FF2B5EF4-FFF2-40B4-BE49-F238E27FC236}">
                <a16:creationId xmlns:a16="http://schemas.microsoft.com/office/drawing/2014/main" id="{980CC197-D2E1-4296-B9E4-445B72AD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Docker, Docker Compose, servidor y configuración</a:t>
            </a:r>
          </a:p>
        </p:txBody>
      </p:sp>
      <p:sp>
        <p:nvSpPr>
          <p:cNvPr id="25" name="impl-rule-Infraestructura">
            <a:extLst xmlns:a="http://schemas.openxmlformats.org/drawingml/2006/main">
              <a:ext uri="{FF2B5EF4-FFF2-40B4-BE49-F238E27FC236}">
                <a16:creationId xmlns:a16="http://schemas.microsoft.com/office/drawing/2014/main" id="{5BB07DF3-A4B4-4748-9167-6D2608D9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mpl-head-Calidad">
            <a:extLst xmlns:a="http://schemas.openxmlformats.org/drawingml/2006/main">
              <a:ext uri="{FF2B5EF4-FFF2-40B4-BE49-F238E27FC236}">
                <a16:creationId xmlns:a16="http://schemas.microsoft.com/office/drawing/2014/main" id="{EE82FEF8-6BC7-40B2-9DA5-FF2A4D5B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1920"/>
                </a:solidFill>
              </a:defRPr>
            </a:pPr>
            <a:r>
              <a:rPr sz="1725" b="1">
                <a:solidFill>
                  <a:srgbClr val="C71920"/>
                </a:solidFill>
              </a:rPr>
              <a:t>Calidad</a:t>
            </a:r>
          </a:p>
        </p:txBody>
      </p:sp>
      <p:sp>
        <p:nvSpPr>
          <p:cNvPr id="27" name="impl-body-Calidad">
            <a:extLst xmlns:a="http://schemas.openxmlformats.org/drawingml/2006/main">
              <a:ext uri="{FF2B5EF4-FFF2-40B4-BE49-F238E27FC236}">
                <a16:creationId xmlns:a16="http://schemas.microsoft.com/office/drawing/2014/main" id="{91651EA0-40B9-46FD-AA77-673CB406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Pruebas, corrección de errores, revisión y retrabajo</a:t>
            </a:r>
          </a:p>
        </p:txBody>
      </p:sp>
      <p:sp>
        <p:nvSpPr>
          <p:cNvPr id="28" name="impl-rule-Calidad">
            <a:extLst xmlns:a="http://schemas.openxmlformats.org/drawingml/2006/main">
              <a:ext uri="{FF2B5EF4-FFF2-40B4-BE49-F238E27FC236}">
                <a16:creationId xmlns:a16="http://schemas.microsoft.com/office/drawing/2014/main" id="{A202C4C0-B94F-42F3-ACDF-0B2E5ADB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4087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ight-sidebar">
            <a:extLst xmlns:a="http://schemas.openxmlformats.org/drawingml/2006/main">
              <a:ext uri="{FF2B5EF4-FFF2-40B4-BE49-F238E27FC236}">
                <a16:creationId xmlns:a16="http://schemas.microsoft.com/office/drawing/2014/main" id="{50F56C07-F603-4325-8640-2980568B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idebar-accent">
            <a:extLst xmlns:a="http://schemas.openxmlformats.org/drawingml/2006/main">
              <a:ext uri="{FF2B5EF4-FFF2-40B4-BE49-F238E27FC236}">
                <a16:creationId xmlns:a16="http://schemas.microsoft.com/office/drawing/2014/main" id="{CFA6DB65-E474-4AB3-A368-0BBFBD2A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5A1E76-8231-4BDD-8B55-DEEFAF43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67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71920"/>
                </a:solidFill>
              </a:defRPr>
            </a:pPr>
            <a:r>
              <a:rPr sz="3150" b="1">
                <a:solidFill>
                  <a:srgbClr val="C71920"/>
                </a:solidFill>
              </a:rPr>
              <a:t>Costos Relacionados y Riesgos</a:t>
            </a:r>
          </a:p>
        </p:txBody>
      </p:sp>
      <p:sp>
        <p:nvSpPr>
          <p:cNvPr id="4" name="title-rule-shadow">
            <a:extLst xmlns:a="http://schemas.openxmlformats.org/drawingml/2006/main">
              <a:ext uri="{FF2B5EF4-FFF2-40B4-BE49-F238E27FC236}">
                <a16:creationId xmlns:a16="http://schemas.microsoft.com/office/drawing/2014/main" id="{AE6C9C59-6AB6-44E5-9318-7465C3A6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5727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D00FAE-9186-440F-AA17-4C031C49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477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637A93C2-CEBE-412E-BEA9-A73C193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Planificación y Estimación · Organízate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221665-0444-47A9-91D2-09B27765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29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8" name="side-page-number">
            <a:extLst xmlns:a="http://schemas.openxmlformats.org/drawingml/2006/main">
              <a:ext uri="{FF2B5EF4-FFF2-40B4-BE49-F238E27FC236}">
                <a16:creationId xmlns:a16="http://schemas.microsoft.com/office/drawing/2014/main" id="{4937ADD0-F5CA-4DB8-8652-BBF6DEB9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5 de 6</a:t>
            </a:r>
          </a:p>
        </p:txBody>
      </p:sp>
      <p:sp>
        <p:nvSpPr>
          <p:cNvPr id="9" name="bullet-mark-145">
            <a:extLst xmlns:a="http://schemas.openxmlformats.org/drawingml/2006/main">
              <a:ext uri="{FF2B5EF4-FFF2-40B4-BE49-F238E27FC236}">
                <a16:creationId xmlns:a16="http://schemas.microsoft.com/office/drawing/2014/main" id="{D70F5075-4842-46DE-A331-0457DC77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71920"/>
                </a:solidFill>
              </a:defRPr>
            </a:pPr>
            <a:r>
              <a:rPr sz="23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ullet-text-145">
            <a:extLst xmlns:a="http://schemas.openxmlformats.org/drawingml/2006/main">
              <a:ext uri="{FF2B5EF4-FFF2-40B4-BE49-F238E27FC236}">
                <a16:creationId xmlns:a16="http://schemas.microsoft.com/office/drawing/2014/main" id="{23C3A514-C3F7-49EF-A2FB-CD9359F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El presupuesto final incorpora recursos que suelen quedar fuera de la estimación inicial.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400050" y="2400300"/>
          <a:ext xmlns:a="http://schemas.openxmlformats.org/drawingml/2006/main" cx="1019175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0485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/>
                        <a:t>Grupo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/>
                        <a:t>Conceptos incluidos</a:t>
                      </a:r>
                    </a:p>
                  </a:txBody>
                  <a:tcPr marL="91440" marR="91440" marT="45720" marB="45720" anchor="ctr">
                    <a:solidFill>
                      <a:srgbClr val="F7F7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500"/>
                        <a:t>Personal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Analista, diseño UX/UI, desarrollo, QA, DevOps y gestión</a:t>
                      </a:r>
                    </a:p>
                  </a:txBody>
                  <a:tcPr marL="114300" marR="114300" marT="47625" marB="47625" anchor="ctr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500"/>
                        <a:t>Infraestructura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Equipos, servidor, dominio, respaldos, internet y energía</a:t>
                      </a:r>
                    </a:p>
                  </a:txBody>
                  <a:tcPr marL="114300" marR="114300" marT="47625" marB="47625" anchor="ctr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500"/>
                        <a:t>Despliegue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Configuración, datos iniciales, manuales y capacitación</a:t>
                      </a:r>
                    </a:p>
                  </a:txBody>
                  <a:tcPr marL="114300" marR="114300" marT="47625" marB="47625" anchor="ctr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500"/>
                        <a:t>Mantenimiento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Soporte correctivo, adaptativo, evolutivo y actualizaciones</a:t>
                      </a:r>
                    </a:p>
                  </a:txBody>
                  <a:tcPr marL="114300" marR="114300" marT="47625" marB="47625" anchor="ctr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500"/>
                        <a:t>Riesgos</a:t>
                      </a:r>
                    </a:p>
                  </a:txBody>
                  <a:tcPr marL="114300" marR="114300" marT="47625" marB="47625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Cambios de alcance, retrasos, fallos técnicos y seguridad</a:t>
                      </a:r>
                    </a:p>
                  </a:txBody>
                  <a:tcPr marL="114300" marR="114300" marT="47625" marB="47625" anchor="ctr"/>
                </a:tc>
              </a:tr>
            </a:tbl>
          </a:graphicData>
        </a:graphic>
      </p:graphicFrame>
      <p:sp>
        <p:nvSpPr>
          <p:cNvPr id="12" name="risk-formula">
            <a:extLst xmlns:a="http://schemas.openxmlformats.org/drawingml/2006/main">
              <a:ext uri="{FF2B5EF4-FFF2-40B4-BE49-F238E27FC236}">
                <a16:creationId xmlns:a16="http://schemas.microsoft.com/office/drawing/2014/main" id="{BC05EDBE-80E2-4EF6-B729-FF74BCFE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1920"/>
                </a:solidFill>
              </a:defRPr>
            </a:pPr>
            <a:r>
              <a:rPr sz="1650" b="1">
                <a:solidFill>
                  <a:srgbClr val="C71920"/>
                </a:solidFill>
              </a:rPr>
              <a:t>Contingencia = (costos directos + indirectos) × porcentaje de riesgo</a:t>
            </a:r>
          </a:p>
        </p:txBody>
      </p:sp>
    </p:spTree>
    <p:extLst>
      <p:ext uri="{BB962C8B-B14F-4D97-AF65-F5344CB8AC3E}">
        <p14:creationId xmlns:p14="http://schemas.microsoft.com/office/powerpoint/2010/main" val="654227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ight-sidebar">
            <a:extLst xmlns:a="http://schemas.openxmlformats.org/drawingml/2006/main">
              <a:ext uri="{FF2B5EF4-FFF2-40B4-BE49-F238E27FC236}">
                <a16:creationId xmlns:a16="http://schemas.microsoft.com/office/drawing/2014/main" id="{C96C63EF-36AC-4993-BFC9-B955347B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idebar-accent">
            <a:extLst xmlns:a="http://schemas.openxmlformats.org/drawingml/2006/main">
              <a:ext uri="{FF2B5EF4-FFF2-40B4-BE49-F238E27FC236}">
                <a16:creationId xmlns:a16="http://schemas.microsoft.com/office/drawing/2014/main" id="{D9DBE3EF-CB01-4F9A-932D-C104A89E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A13B22-7A00-4046-A995-6E9A6E1D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67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71920"/>
                </a:solidFill>
              </a:defRPr>
            </a:pPr>
            <a:r>
              <a:rPr sz="3150" b="1">
                <a:solidFill>
                  <a:srgbClr val="C71920"/>
                </a:solidFill>
              </a:rPr>
              <a:t>Presupuesto Final</a:t>
            </a:r>
          </a:p>
        </p:txBody>
      </p:sp>
      <p:sp>
        <p:nvSpPr>
          <p:cNvPr id="4" name="title-rule-shadow">
            <a:extLst xmlns:a="http://schemas.openxmlformats.org/drawingml/2006/main">
              <a:ext uri="{FF2B5EF4-FFF2-40B4-BE49-F238E27FC236}">
                <a16:creationId xmlns:a16="http://schemas.microsoft.com/office/drawing/2014/main" id="{221FED4C-5DFB-4C82-BDAE-11499322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57275"/>
            <a:ext cx="1066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F861B5-0903-4892-B734-8FF8B5B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0477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76795B6-6115-4632-AA24-7F1CB695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Planificación y Estimación · Organízate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DE7ED7-CEC5-47A8-9885-47673D3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29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8" name="side-page-number">
            <a:extLst xmlns:a="http://schemas.openxmlformats.org/drawingml/2006/main">
              <a:ext uri="{FF2B5EF4-FFF2-40B4-BE49-F238E27FC236}">
                <a16:creationId xmlns:a16="http://schemas.microsoft.com/office/drawing/2014/main" id="{A45D74F0-F378-4F57-A1C3-25CF7498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6 de 6</a:t>
            </a:r>
          </a:p>
        </p:txBody>
      </p:sp>
      <p:sp>
        <p:nvSpPr>
          <p:cNvPr id="9" name="bullet-mark-145">
            <a:extLst xmlns:a="http://schemas.openxmlformats.org/drawingml/2006/main">
              <a:ext uri="{FF2B5EF4-FFF2-40B4-BE49-F238E27FC236}">
                <a16:creationId xmlns:a16="http://schemas.microsoft.com/office/drawing/2014/main" id="{10AC3EEE-15ED-4B7D-ABBE-F245420C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71920"/>
                </a:solidFill>
              </a:defRPr>
            </a:pPr>
            <a:r>
              <a:rPr sz="23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ullet-text-145">
            <a:extLst xmlns:a="http://schemas.openxmlformats.org/drawingml/2006/main">
              <a:ext uri="{FF2B5EF4-FFF2-40B4-BE49-F238E27FC236}">
                <a16:creationId xmlns:a16="http://schemas.microsoft.com/office/drawing/2014/main" id="{A6DA259B-DF04-4399-9FCE-148BEAEE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La estimación se valida descomponiendo el trabajo, asignando horas y revisando los riesgos.</a:t>
            </a:r>
          </a:p>
        </p:txBody>
      </p:sp>
      <p:sp>
        <p:nvSpPr>
          <p:cNvPr id="11" name="step-242">
            <a:extLst xmlns:a="http://schemas.openxmlformats.org/drawingml/2006/main">
              <a:ext uri="{FF2B5EF4-FFF2-40B4-BE49-F238E27FC236}">
                <a16:creationId xmlns:a16="http://schemas.microsoft.com/office/drawing/2014/main" id="{702CAC13-8515-4D9F-843E-453B686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1. Definir alcance, entregables y exclusiones.</a:t>
            </a:r>
          </a:p>
        </p:txBody>
      </p:sp>
      <p:sp>
        <p:nvSpPr>
          <p:cNvPr id="12" name="step-298">
            <a:extLst xmlns:a="http://schemas.openxmlformats.org/drawingml/2006/main">
              <a:ext uri="{FF2B5EF4-FFF2-40B4-BE49-F238E27FC236}">
                <a16:creationId xmlns:a16="http://schemas.microsoft.com/office/drawing/2014/main" id="{C28E007F-DB96-440C-B9CA-514D8CDB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2. Crear la estructura de desglose del trabajo (EDT/WBS).</a:t>
            </a:r>
          </a:p>
        </p:txBody>
      </p:sp>
      <p:sp>
        <p:nvSpPr>
          <p:cNvPr id="13" name="step-354">
            <a:extLst xmlns:a="http://schemas.openxmlformats.org/drawingml/2006/main">
              <a:ext uri="{FF2B5EF4-FFF2-40B4-BE49-F238E27FC236}">
                <a16:creationId xmlns:a16="http://schemas.microsoft.com/office/drawing/2014/main" id="{F1D8F277-738F-4BF6-A3D5-1EC98CC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3. Estimar horas, tarifas, responsables y dependencias.</a:t>
            </a:r>
          </a:p>
        </p:txBody>
      </p:sp>
      <p:sp>
        <p:nvSpPr>
          <p:cNvPr id="14" name="step-410">
            <a:extLst xmlns:a="http://schemas.openxmlformats.org/drawingml/2006/main">
              <a:ext uri="{FF2B5EF4-FFF2-40B4-BE49-F238E27FC236}">
                <a16:creationId xmlns:a16="http://schemas.microsoft.com/office/drawing/2014/main" id="{D762A521-C2BC-4557-868A-7AB5FB71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4. Agregar infraestructura, pruebas, documentación y capacitación.</a:t>
            </a:r>
          </a:p>
        </p:txBody>
      </p:sp>
      <p:sp>
        <p:nvSpPr>
          <p:cNvPr id="15" name="step-466">
            <a:extLst xmlns:a="http://schemas.openxmlformats.org/drawingml/2006/main">
              <a:ext uri="{FF2B5EF4-FFF2-40B4-BE49-F238E27FC236}">
                <a16:creationId xmlns:a16="http://schemas.microsoft.com/office/drawing/2014/main" id="{93B58A8C-DBBE-40F1-8057-C093E2E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5. Incorporar costos indirectos, contingencia e impuestos.</a:t>
            </a:r>
          </a:p>
        </p:txBody>
      </p:sp>
      <p:sp>
        <p:nvSpPr>
          <p:cNvPr id="16" name="step-522">
            <a:extLst xmlns:a="http://schemas.openxmlformats.org/drawingml/2006/main">
              <a:ext uri="{FF2B5EF4-FFF2-40B4-BE49-F238E27FC236}">
                <a16:creationId xmlns:a16="http://schemas.microsoft.com/office/drawing/2014/main" id="{12A6E431-B4B5-4752-8085-BA342D9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6. Actualizar el presupuesto con el avance y los cambios reales.</a:t>
            </a:r>
          </a:p>
        </p:txBody>
      </p:sp>
      <p:sp>
        <p:nvSpPr>
          <p:cNvPr id="17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9353F231-C266-466A-9A4C-35FC3F69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19050">
            <a:solidFill>
              <a:srgbClr val="C71920"/>
            </a:solidFill>
            <a:prstDash val="solid"/>
          </a:ln>
        </p:spPr>
      </p:sp>
      <p:sp>
        <p:nvSpPr>
          <p:cNvPr id="18" name="final-formula">
            <a:extLst xmlns:a="http://schemas.openxmlformats.org/drawingml/2006/main">
              <a:ext uri="{FF2B5EF4-FFF2-40B4-BE49-F238E27FC236}">
                <a16:creationId xmlns:a16="http://schemas.microsoft.com/office/drawing/2014/main" id="{9CA42A46-7207-4B5C-8EF5-0BF379B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901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TCO = Presupuesto inicial + Operación + Soporte + Mantenimiento</a:t>
            </a:r>
          </a:p>
        </p:txBody>
      </p:sp>
    </p:spTree>
    <p:extLst>
      <p:ext uri="{BB962C8B-B14F-4D97-AF65-F5344CB8AC3E}">
        <p14:creationId xmlns:p14="http://schemas.microsoft.com/office/powerpoint/2010/main" val="2088959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2026-07-25T02:11:05.7630000Z</dcterms:created>
  <dcterms:modified xsi:type="dcterms:W3CDTF">2026-07-25T02:11:05.7630000Z</dcterms:modified>
</coreProperties>
</file>