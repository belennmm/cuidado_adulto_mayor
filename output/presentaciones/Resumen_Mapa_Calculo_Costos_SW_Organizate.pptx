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0915c79d2f24b18" /><Relationship Type="http://schemas.openxmlformats.org/officeDocument/2006/relationships/extended-properties" Target="/docProps/app.xml" Id="Rdd525c9d878c4e55" /><Relationship Type="http://schemas.openxmlformats.org/officeDocument/2006/relationships/officeDocument" Target="/ppt/presentation.xml" Id="R21409024ec1849e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743dd79c74e41a3"/>
  </p:sldMasterIdLst>
  <p:notesMasterIdLst>
    <p:notesMasterId xmlns:r="http://schemas.openxmlformats.org/officeDocument/2006/relationships" r:id="Rdb6d17c31b964340"/>
  </p:notesMasterIdLst>
  <p:sldIdLst>
    <p:sldId xmlns:r="http://schemas.openxmlformats.org/officeDocument/2006/relationships" id="256" r:id="Rce312fa298db4d7c"/>
    <p:sldId xmlns:r="http://schemas.openxmlformats.org/officeDocument/2006/relationships" id="257" r:id="R24dbbd359df347dc"/>
    <p:sldId xmlns:r="http://schemas.openxmlformats.org/officeDocument/2006/relationships" id="258" r:id="Rfe1b538c33e940ec"/>
    <p:sldId xmlns:r="http://schemas.openxmlformats.org/officeDocument/2006/relationships" id="259" r:id="R8e4f75903b454c3b"/>
    <p:sldId xmlns:r="http://schemas.openxmlformats.org/officeDocument/2006/relationships" id="260" r:id="Ra14572949abf45f6"/>
    <p:sldId xmlns:r="http://schemas.openxmlformats.org/officeDocument/2006/relationships" id="261" r:id="R58df0171d5bc4509"/>
    <p:sldId xmlns:r="http://schemas.openxmlformats.org/officeDocument/2006/relationships" id="262" r:id="R2a2274358861467d"/>
    <p:sldId xmlns:r="http://schemas.openxmlformats.org/officeDocument/2006/relationships" id="263" r:id="Ra4f695f2afaf46e7"/>
    <p:sldId xmlns:r="http://schemas.openxmlformats.org/officeDocument/2006/relationships" id="264" r:id="R66b396a345b7476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e975603e34c4d80" /><Relationship Type="http://schemas.openxmlformats.org/officeDocument/2006/relationships/slideMaster" Target="/ppt/slideMasters/slideMaster1.xml" Id="R0743dd79c74e41a3" /><Relationship Type="http://schemas.openxmlformats.org/officeDocument/2006/relationships/notesMaster" Target="/ppt/notesMasters/notesMaster1.xml" Id="Rdb6d17c31b964340" /><Relationship Type="http://schemas.openxmlformats.org/officeDocument/2006/relationships/presProps" Target="/ppt/presProps.xml" Id="R28cdffaf70b8492b" /><Relationship Type="http://schemas.openxmlformats.org/officeDocument/2006/relationships/tableStyles" Target="/ppt/tableStyles.xml" Id="R6d34deb5d4a4445c" /><Relationship Type="http://schemas.openxmlformats.org/officeDocument/2006/relationships/slide" Target="/ppt/slides/slide1.xml" Id="Rce312fa298db4d7c" /><Relationship Type="http://schemas.openxmlformats.org/officeDocument/2006/relationships/slide" Target="/ppt/slides/slide2.xml" Id="R24dbbd359df347dc" /><Relationship Type="http://schemas.openxmlformats.org/officeDocument/2006/relationships/slide" Target="/ppt/slides/slide3.xml" Id="Rfe1b538c33e940ec" /><Relationship Type="http://schemas.openxmlformats.org/officeDocument/2006/relationships/slide" Target="/ppt/slides/slide4.xml" Id="R8e4f75903b454c3b" /><Relationship Type="http://schemas.openxmlformats.org/officeDocument/2006/relationships/slide" Target="/ppt/slides/slide5.xml" Id="Ra14572949abf45f6" /><Relationship Type="http://schemas.openxmlformats.org/officeDocument/2006/relationships/slide" Target="/ppt/slides/slide6.xml" Id="R58df0171d5bc4509" /><Relationship Type="http://schemas.openxmlformats.org/officeDocument/2006/relationships/slide" Target="/ppt/slides/slide7.xml" Id="R2a2274358861467d" /><Relationship Type="http://schemas.openxmlformats.org/officeDocument/2006/relationships/slide" Target="/ppt/slides/slide8.xml" Id="Ra4f695f2afaf46e7" /><Relationship Type="http://schemas.openxmlformats.org/officeDocument/2006/relationships/slide" Target="/ppt/slides/slide9.xml" Id="R66b396a345b7476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486ea224a1d45c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2058a85c136440c" /><Relationship Type="http://schemas.openxmlformats.org/officeDocument/2006/relationships/notesMaster" Target="/ppt/notesMasters/notesMaster1.xml" Id="R14e355d48d5e415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835e5764f02405f" /><Relationship Type="http://schemas.openxmlformats.org/officeDocument/2006/relationships/notesMaster" Target="/ppt/notesMasters/notesMaster1.xml" Id="Rabe5a47dc86c4bb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58cce862dfc48de" /><Relationship Type="http://schemas.openxmlformats.org/officeDocument/2006/relationships/notesMaster" Target="/ppt/notesMasters/notesMaster1.xml" Id="R173af9757e6845b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5129f0291c54569" /><Relationship Type="http://schemas.openxmlformats.org/officeDocument/2006/relationships/notesMaster" Target="/ppt/notesMasters/notesMaster1.xml" Id="Re0d57c5e504247e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cc8dd170991434d" /><Relationship Type="http://schemas.openxmlformats.org/officeDocument/2006/relationships/notesMaster" Target="/ppt/notesMasters/notesMaster1.xml" Id="R6d2e9487cdb344d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56c541e7141498c" /><Relationship Type="http://schemas.openxmlformats.org/officeDocument/2006/relationships/notesMaster" Target="/ppt/notesMasters/notesMaster1.xml" Id="Rfd534c32e2ea45e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15ac95a7f1f4927" /><Relationship Type="http://schemas.openxmlformats.org/officeDocument/2006/relationships/notesMaster" Target="/ppt/notesMasters/notesMaster1.xml" Id="R2f0ac44ff1f1415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025893256ad410f" /><Relationship Type="http://schemas.openxmlformats.org/officeDocument/2006/relationships/notesMaster" Target="/ppt/notesMasters/notesMaster1.xml" Id="R5780dd7abf91457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d12bca52f994aab" /><Relationship Type="http://schemas.openxmlformats.org/officeDocument/2006/relationships/notesMaster" Target="/ppt/notesMasters/notesMaster1.xml" Id="R2bc9fceb24a3408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Presentación: 08. Estimacion de tiempo y esfuerzo.Resumen.pptx.</a:t>
            </a:r>
          </a:p>
          <a:p xmlns:a="http://schemas.openxmlformats.org/drawingml/2006/main">
            <a:r>
              <a:t>- Proyecto local Organízate: README.md, rutas/controladores, migraciones, pruebas, docker-compose.yml, frontend/package.json y backend/composer.json.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Presentación: 08. Estimacion de tiempo y esfuerzo.Resumen.pptx.</a:t>
            </a:r>
          </a:p>
          <a:p xmlns:a="http://schemas.openxmlformats.org/drawingml/2006/main">
            <a:r>
              <a:t>- Proyecto local Organízate: README.md, rutas/controladores, migraciones, pruebas, docker-compose.yml, frontend/package.json y backend/composer.json.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Presentación: 08. Estimacion de tiempo y esfuerzo.Resumen.pptx.</a:t>
            </a:r>
          </a:p>
          <a:p xmlns:a="http://schemas.openxmlformats.org/drawingml/2006/main">
            <a:r>
              <a:t>- Proyecto local Organízate: README.md, rutas/controladores, migraciones, pruebas, docker-compose.yml, frontend/package.json y backend/composer.json.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Presentación: 08. Estimacion de tiempo y esfuerzo.Resumen.pptx.</a:t>
            </a:r>
          </a:p>
          <a:p xmlns:a="http://schemas.openxmlformats.org/drawingml/2006/main">
            <a:r>
              <a:t>- Proyecto local Organízate: README.md, rutas/controladores, migraciones, pruebas, docker-compose.yml, frontend/package.json y backend/composer.json.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Presentación: 08. Estimacion de tiempo y esfuerzo.Resumen.pptx.</a:t>
            </a:r>
          </a:p>
          <a:p xmlns:a="http://schemas.openxmlformats.org/drawingml/2006/main">
            <a:r>
              <a:t>- Proyecto local Organízate: README.md, rutas/controladores, migraciones, pruebas, docker-compose.yml, frontend/package.json y backend/composer.json.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Presentación: 08. Estimacion de tiempo y esfuerzo.Resumen.pptx.</a:t>
            </a:r>
          </a:p>
          <a:p xmlns:a="http://schemas.openxmlformats.org/drawingml/2006/main">
            <a:r>
              <a:t>- Proyecto local Organízate: README.md, rutas/controladores, migraciones, pruebas, docker-compose.yml, frontend/package.json y backend/composer.json.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Presentación: 08. Estimacion de tiempo y esfuerzo.Resumen.pptx.</a:t>
            </a:r>
          </a:p>
          <a:p xmlns:a="http://schemas.openxmlformats.org/drawingml/2006/main">
            <a:r>
              <a:t>- Proyecto local Organízate: README.md, rutas/controladores, migraciones, pruebas, docker-compose.yml, frontend/package.json y backend/composer.json.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Presentación: 08. Estimacion de tiempo y esfuerzo.Resumen.pptx.</a:t>
            </a:r>
          </a:p>
          <a:p xmlns:a="http://schemas.openxmlformats.org/drawingml/2006/main">
            <a:r>
              <a:t>- Proyecto local Organízate: README.md, rutas/controladores, migraciones, pruebas, docker-compose.yml, frontend/package.json y backend/composer.json.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Presentación: 08. Estimacion de tiempo y esfuerzo.Resumen.pptx.</a:t>
            </a:r>
          </a:p>
          <a:p xmlns:a="http://schemas.openxmlformats.org/drawingml/2006/main">
            <a:r>
              <a:t>- Proyecto local Organízate: README.md, rutas/controladores, migraciones, pruebas, docker-compose.yml, frontend/package.json y backend/composer.json.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4835fa6f4142c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fffda8e007442ab" /><Relationship Type="http://schemas.openxmlformats.org/officeDocument/2006/relationships/slideLayout" Target="/ppt/slideLayouts/slideLayout1.xml" Id="R97b572bf077648f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7b572bf077648f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5922994d214b56" /><Relationship Type="http://schemas.openxmlformats.org/officeDocument/2006/relationships/notesSlide" Target="/ppt/notesSlides/notesSlide1.xml" Id="Rf9d7e496c1324cb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fbed51d6b14154" /><Relationship Type="http://schemas.openxmlformats.org/officeDocument/2006/relationships/notesSlide" Target="/ppt/notesSlides/notesSlide2.xml" Id="R7f7dfc19976a4e6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ae6157850b4333" /><Relationship Type="http://schemas.openxmlformats.org/officeDocument/2006/relationships/notesSlide" Target="/ppt/notesSlides/notesSlide3.xml" Id="R8fb4246da8f2468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8867bb20ea408c" /><Relationship Type="http://schemas.openxmlformats.org/officeDocument/2006/relationships/notesSlide" Target="/ppt/notesSlides/notesSlide4.xml" Id="Ra363ed2a8f3342a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176c55d0eb4bfb" /><Relationship Type="http://schemas.openxmlformats.org/officeDocument/2006/relationships/notesSlide" Target="/ppt/notesSlides/notesSlide5.xml" Id="Rb17dbc3eecec403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f8d418b9284745" /><Relationship Type="http://schemas.openxmlformats.org/officeDocument/2006/relationships/notesSlide" Target="/ppt/notesSlides/notesSlide6.xml" Id="R0c516372688d478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b91cf1b76b4799" /><Relationship Type="http://schemas.openxmlformats.org/officeDocument/2006/relationships/notesSlide" Target="/ppt/notesSlides/notesSlide7.xml" Id="R62c26ba51a654c3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3a2ffde5484758" /><Relationship Type="http://schemas.openxmlformats.org/officeDocument/2006/relationships/notesSlide" Target="/ppt/notesSlides/notesSlide8.xml" Id="Rde6c590284c5486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ed35230d584021" /><Relationship Type="http://schemas.openxmlformats.org/officeDocument/2006/relationships/notesSlide" Target="/ppt/notesSlides/notesSlide9.xml" Id="Rfff479a314fa4fc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idebar">
            <a:extLst xmlns:a="http://schemas.openxmlformats.org/drawingml/2006/main">
              <a:ext uri="{FF2B5EF4-FFF2-40B4-BE49-F238E27FC236}">
                <a16:creationId xmlns:a16="http://schemas.microsoft.com/office/drawing/2014/main" id="{3B690DA2-79E3-4E1D-8625-5F43A1DD8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1219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10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accent">
            <a:extLst xmlns:a="http://schemas.openxmlformats.org/drawingml/2006/main">
              <a:ext uri="{FF2B5EF4-FFF2-40B4-BE49-F238E27FC236}">
                <a16:creationId xmlns:a16="http://schemas.microsoft.com/office/drawing/2014/main" id="{85947DE6-36A2-49FA-AE56-C9D0A01B5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13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0E68177-4E7B-4778-B2CE-8C0563E64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2860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C71920"/>
                </a:solidFill>
              </a:defRPr>
            </a:pPr>
            <a:r>
              <a:rPr sz="3000" b="1">
                <a:solidFill>
                  <a:srgbClr val="C71920"/>
                </a:solidFill>
              </a:rPr>
              <a:t>Cálculo de Costos del Software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EC93AAAE-9732-433D-8E92-EC35B4B39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028700"/>
            <a:ext cx="10620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DE11DA27-D92B-4891-B91A-AC9F8A2E8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4389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1515"/>
                </a:solidFill>
              </a:defRPr>
            </a:pPr>
            <a:r>
              <a:rPr sz="1350" b="0">
                <a:solidFill>
                  <a:srgbClr val="151515"/>
                </a:solidFill>
              </a:rPr>
              <a:t>Planificación y Estimación · Organízate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A4722B21-997E-4733-887E-5B6884E99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389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51515"/>
                </a:solidFill>
              </a:defRPr>
            </a:pPr>
            <a:r>
              <a:rPr sz="1350" b="0">
                <a:solidFill>
                  <a:srgbClr val="151515"/>
                </a:solidFill>
              </a:rPr>
              <a:t>1</a:t>
            </a:r>
          </a:p>
        </p:txBody>
      </p:sp>
      <p:sp>
        <p:nvSpPr>
          <p:cNvPr id="7" name="side-page">
            <a:extLst xmlns:a="http://schemas.openxmlformats.org/drawingml/2006/main">
              <a:ext uri="{FF2B5EF4-FFF2-40B4-BE49-F238E27FC236}">
                <a16:creationId xmlns:a16="http://schemas.microsoft.com/office/drawing/2014/main" id="{8C3ED4C0-D7F5-4F4C-BF35-BC1D9A70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1 de 9</a:t>
            </a:r>
          </a:p>
        </p:txBody>
      </p:sp>
      <p:sp>
        <p:nvSpPr>
          <p:cNvPr id="8" name="subtitle">
            <a:extLst xmlns:a="http://schemas.openxmlformats.org/drawingml/2006/main">
              <a:ext uri="{FF2B5EF4-FFF2-40B4-BE49-F238E27FC236}">
                <a16:creationId xmlns:a16="http://schemas.microsoft.com/office/drawing/2014/main" id="{E54E35B9-9F87-4206-B4D9-E0E84B11A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1515"/>
                </a:solidFill>
              </a:defRPr>
            </a:pPr>
            <a:r>
              <a:rPr sz="2700" b="1">
                <a:solidFill>
                  <a:srgbClr val="151515"/>
                </a:solidFill>
              </a:rPr>
              <a:t>Resumen y mapa conceptual aplicado a “Organízate”</a:t>
            </a:r>
          </a:p>
        </p:txBody>
      </p:sp>
      <p:sp>
        <p:nvSpPr>
          <p:cNvPr id="9" name="dot-285">
            <a:extLst xmlns:a="http://schemas.openxmlformats.org/drawingml/2006/main">
              <a:ext uri="{FF2B5EF4-FFF2-40B4-BE49-F238E27FC236}">
                <a16:creationId xmlns:a16="http://schemas.microsoft.com/office/drawing/2014/main" id="{C3B5E88F-6B9C-4088-B1E7-55F750D36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2714625"/>
            <a:ext cx="28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C71920"/>
                </a:solidFill>
              </a:defRPr>
            </a:pPr>
            <a:r>
              <a:rPr sz="2325" b="1">
                <a:solidFill>
                  <a:srgbClr val="C71920"/>
                </a:solidFill>
              </a:rPr>
              <a:t>⊙</a:t>
            </a:r>
          </a:p>
        </p:txBody>
      </p:sp>
      <p:sp>
        <p:nvSpPr>
          <p:cNvPr id="10" name="b-285">
            <a:extLst xmlns:a="http://schemas.openxmlformats.org/drawingml/2006/main">
              <a:ext uri="{FF2B5EF4-FFF2-40B4-BE49-F238E27FC236}">
                <a16:creationId xmlns:a16="http://schemas.microsoft.com/office/drawing/2014/main" id="{83BAB6B4-4846-4F39-A628-DE3FF6555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95575"/>
            <a:ext cx="1000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51515"/>
                </a:solidFill>
              </a:defRPr>
            </a:pPr>
            <a:r>
              <a:rPr sz="2100" b="0">
                <a:solidFill>
                  <a:srgbClr val="151515"/>
                </a:solidFill>
              </a:rPr>
              <a:t>Estimar costos significa convertir alcance y funcionalidad en esfuerzo, tiempo, personas y dinero.</a:t>
            </a:r>
          </a:p>
        </p:txBody>
      </p:sp>
      <p:sp>
        <p:nvSpPr>
          <p:cNvPr id="11" name="dot-405">
            <a:extLst xmlns:a="http://schemas.openxmlformats.org/drawingml/2006/main">
              <a:ext uri="{FF2B5EF4-FFF2-40B4-BE49-F238E27FC236}">
                <a16:creationId xmlns:a16="http://schemas.microsoft.com/office/drawing/2014/main" id="{231F1466-9B00-48A9-914D-84517F2AF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3857625"/>
            <a:ext cx="28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C71920"/>
                </a:solidFill>
              </a:defRPr>
            </a:pPr>
            <a:r>
              <a:rPr sz="2250" b="1">
                <a:solidFill>
                  <a:srgbClr val="C71920"/>
                </a:solidFill>
              </a:rPr>
              <a:t>⊙</a:t>
            </a:r>
          </a:p>
        </p:txBody>
      </p:sp>
      <p:sp>
        <p:nvSpPr>
          <p:cNvPr id="12" name="b-405">
            <a:extLst xmlns:a="http://schemas.openxmlformats.org/drawingml/2006/main">
              <a:ext uri="{FF2B5EF4-FFF2-40B4-BE49-F238E27FC236}">
                <a16:creationId xmlns:a16="http://schemas.microsoft.com/office/drawing/2014/main" id="{1708BFFC-ACFB-443E-A61A-1B1ABB113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38575"/>
            <a:ext cx="10001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51515"/>
                </a:solidFill>
              </a:defRPr>
            </a:pPr>
            <a:r>
              <a:rPr sz="2025" b="0">
                <a:solidFill>
                  <a:srgbClr val="151515"/>
                </a:solidFill>
              </a:rPr>
              <a:t>La factibilidad depende de restricciones organizativas, económicas, técnicas y de calendario.</a:t>
            </a:r>
          </a:p>
        </p:txBody>
      </p:sp>
      <p:sp>
        <p:nvSpPr>
          <p:cNvPr id="13" name="formula">
            <a:extLst xmlns:a="http://schemas.openxmlformats.org/drawingml/2006/main">
              <a:ext uri="{FF2B5EF4-FFF2-40B4-BE49-F238E27FC236}">
                <a16:creationId xmlns:a16="http://schemas.microsoft.com/office/drawing/2014/main" id="{5E433656-BB70-48E1-A41B-E87FBE9EA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9048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19050">
            <a:solidFill>
              <a:srgbClr val="C71920"/>
            </a:solidFill>
            <a:prstDash val="solid"/>
          </a:ln>
        </p:spPr>
      </p:sp>
      <p:sp>
        <p:nvSpPr>
          <p:cNvPr id="14" name="formula-text">
            <a:extLst xmlns:a="http://schemas.openxmlformats.org/drawingml/2006/main">
              <a:ext uri="{FF2B5EF4-FFF2-40B4-BE49-F238E27FC236}">
                <a16:creationId xmlns:a16="http://schemas.microsoft.com/office/drawing/2014/main" id="{7F78D3C5-723F-49FD-81FE-51993B660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81625"/>
            <a:ext cx="866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C71920"/>
                </a:solidFill>
              </a:defRPr>
            </a:pPr>
            <a:r>
              <a:rPr sz="2025" b="1">
                <a:solidFill>
                  <a:srgbClr val="C71920"/>
                </a:solidFill>
              </a:rPr>
              <a:t>Alcance → Tamaño → Esfuerzo → Tiempo y recursos → Costo total</a:t>
            </a:r>
          </a:p>
        </p:txBody>
      </p:sp>
    </p:spTree>
    <p:extLst>
      <p:ext uri="{BB962C8B-B14F-4D97-AF65-F5344CB8AC3E}">
        <p14:creationId xmlns:p14="http://schemas.microsoft.com/office/powerpoint/2010/main" val="1225420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sidebar">
            <a:extLst xmlns:a="http://schemas.openxmlformats.org/drawingml/2006/main">
              <a:ext uri="{FF2B5EF4-FFF2-40B4-BE49-F238E27FC236}">
                <a16:creationId xmlns:a16="http://schemas.microsoft.com/office/drawing/2014/main" id="{CC59173A-E8DA-4A8A-B16B-24CA43EFD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1219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10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accent">
            <a:extLst xmlns:a="http://schemas.openxmlformats.org/drawingml/2006/main">
              <a:ext uri="{FF2B5EF4-FFF2-40B4-BE49-F238E27FC236}">
                <a16:creationId xmlns:a16="http://schemas.microsoft.com/office/drawing/2014/main" id="{B1D17619-4F70-4D22-BA10-89A882729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13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C2B5FED-E8E7-4B2D-B64A-2CF7CD572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2860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C71920"/>
                </a:solidFill>
              </a:defRPr>
            </a:pPr>
            <a:r>
              <a:rPr sz="3000" b="1">
                <a:solidFill>
                  <a:srgbClr val="C71920"/>
                </a:solidFill>
              </a:rPr>
              <a:t>Mapa del Proceso de Estimación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2EE3E701-AF6E-4A0A-BE82-57F7806F2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028700"/>
            <a:ext cx="10620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E8F7652C-8C5C-431D-AB24-80D948ABA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4389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1515"/>
                </a:solidFill>
              </a:defRPr>
            </a:pPr>
            <a:r>
              <a:rPr sz="1350" b="0">
                <a:solidFill>
                  <a:srgbClr val="151515"/>
                </a:solidFill>
              </a:rPr>
              <a:t>Planificación y Estimación · Organízate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CE4969F7-0A5F-4EB4-B8B8-683009F53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389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51515"/>
                </a:solidFill>
              </a:defRPr>
            </a:pPr>
            <a:r>
              <a:rPr sz="1350" b="0">
                <a:solidFill>
                  <a:srgbClr val="151515"/>
                </a:solidFill>
              </a:rPr>
              <a:t>2</a:t>
            </a:r>
          </a:p>
        </p:txBody>
      </p:sp>
      <p:sp>
        <p:nvSpPr>
          <p:cNvPr id="7" name="side-page">
            <a:extLst xmlns:a="http://schemas.openxmlformats.org/drawingml/2006/main">
              <a:ext uri="{FF2B5EF4-FFF2-40B4-BE49-F238E27FC236}">
                <a16:creationId xmlns:a16="http://schemas.microsoft.com/office/drawing/2014/main" id="{49541EA2-2E06-4473-8A22-53DC77D66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2 de 9</a:t>
            </a:r>
          </a:p>
        </p:txBody>
      </p:sp>
      <p:sp>
        <p:nvSpPr>
          <p:cNvPr id="8" name="node-0">
            <a:extLst xmlns:a="http://schemas.openxmlformats.org/drawingml/2006/main">
              <a:ext uri="{FF2B5EF4-FFF2-40B4-BE49-F238E27FC236}">
                <a16:creationId xmlns:a16="http://schemas.microsoft.com/office/drawing/2014/main" id="{31D042F9-7E71-45A9-AA16-2C97C3D6F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81125"/>
            <a:ext cx="857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B8B8B8"/>
            </a:solidFill>
            <a:prstDash val="solid"/>
          </a:ln>
        </p:spPr>
      </p:sp>
      <p:sp>
        <p:nvSpPr>
          <p:cNvPr id="9" name="head-0">
            <a:extLst xmlns:a="http://schemas.openxmlformats.org/drawingml/2006/main">
              <a:ext uri="{FF2B5EF4-FFF2-40B4-BE49-F238E27FC236}">
                <a16:creationId xmlns:a16="http://schemas.microsoft.com/office/drawing/2014/main" id="{7D807B98-C8DC-4F99-B60A-6F04D16E7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4478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71920"/>
                </a:solidFill>
              </a:defRPr>
            </a:pPr>
            <a:r>
              <a:rPr sz="1800" b="1">
                <a:solidFill>
                  <a:srgbClr val="C71920"/>
                </a:solidFill>
              </a:rPr>
              <a:t>1. Alcance</a:t>
            </a:r>
          </a:p>
        </p:txBody>
      </p:sp>
      <p:sp>
        <p:nvSpPr>
          <p:cNvPr id="10" name="body-0">
            <a:extLst xmlns:a="http://schemas.openxmlformats.org/drawingml/2006/main">
              <a:ext uri="{FF2B5EF4-FFF2-40B4-BE49-F238E27FC236}">
                <a16:creationId xmlns:a16="http://schemas.microsoft.com/office/drawing/2014/main" id="{12B1D328-C29B-48C1-B869-C034B505C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447800"/>
            <a:ext cx="604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51515"/>
                </a:solidFill>
              </a:defRPr>
            </a:pPr>
            <a:r>
              <a:rPr sz="1725" b="0">
                <a:solidFill>
                  <a:srgbClr val="151515"/>
                </a:solidFill>
              </a:rPr>
              <a:t>Actores, casos de uso y requisitos</a:t>
            </a:r>
          </a:p>
        </p:txBody>
      </p:sp>
      <p:sp>
        <p:nvSpPr>
          <p:cNvPr id="11" name="arrow-0">
            <a:extLst xmlns:a="http://schemas.openxmlformats.org/drawingml/2006/main">
              <a:ext uri="{FF2B5EF4-FFF2-40B4-BE49-F238E27FC236}">
                <a16:creationId xmlns:a16="http://schemas.microsoft.com/office/drawing/2014/main" id="{816E1646-9C93-4DE9-B88D-053153C80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1790700"/>
            <a:ext cx="523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C71920"/>
                </a:solidFill>
              </a:defRPr>
            </a:pPr>
            <a:r>
              <a:rPr sz="2100" b="1">
                <a:solidFill>
                  <a:srgbClr val="C71920"/>
                </a:solidFill>
              </a:rPr>
              <a:t>↓</a:t>
            </a:r>
          </a:p>
        </p:txBody>
      </p:sp>
      <p:sp>
        <p:nvSpPr>
          <p:cNvPr id="12" name="node-1">
            <a:extLst xmlns:a="http://schemas.openxmlformats.org/drawingml/2006/main">
              <a:ext uri="{FF2B5EF4-FFF2-40B4-BE49-F238E27FC236}">
                <a16:creationId xmlns:a16="http://schemas.microsoft.com/office/drawing/2014/main" id="{01C6E016-8A6E-4C06-8F34-08B93DEDE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62175"/>
            <a:ext cx="857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B8B8B8"/>
            </a:solidFill>
            <a:prstDash val="solid"/>
          </a:ln>
        </p:spPr>
      </p:sp>
      <p:sp>
        <p:nvSpPr>
          <p:cNvPr id="13" name="head-1">
            <a:extLst xmlns:a="http://schemas.openxmlformats.org/drawingml/2006/main">
              <a:ext uri="{FF2B5EF4-FFF2-40B4-BE49-F238E27FC236}">
                <a16:creationId xmlns:a16="http://schemas.microsoft.com/office/drawing/2014/main" id="{D2A2DCB8-38E3-4D0F-A1E5-6FABEE69B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288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71920"/>
                </a:solidFill>
              </a:defRPr>
            </a:pPr>
            <a:r>
              <a:rPr sz="1800" b="1">
                <a:solidFill>
                  <a:srgbClr val="C71920"/>
                </a:solidFill>
              </a:rPr>
              <a:t>2. Tamaño</a:t>
            </a:r>
          </a:p>
        </p:txBody>
      </p:sp>
      <p:sp>
        <p:nvSpPr>
          <p:cNvPr id="14" name="body-1">
            <a:extLst xmlns:a="http://schemas.openxmlformats.org/drawingml/2006/main">
              <a:ext uri="{FF2B5EF4-FFF2-40B4-BE49-F238E27FC236}">
                <a16:creationId xmlns:a16="http://schemas.microsoft.com/office/drawing/2014/main" id="{C72B5937-BE87-40A4-A569-B0C0D7E5E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28850"/>
            <a:ext cx="604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51515"/>
                </a:solidFill>
              </a:defRPr>
            </a:pPr>
            <a:r>
              <a:rPr sz="1725" b="0">
                <a:solidFill>
                  <a:srgbClr val="151515"/>
                </a:solidFill>
              </a:rPr>
              <a:t>PCU sin ajustar</a:t>
            </a:r>
          </a:p>
        </p:txBody>
      </p:sp>
      <p:sp>
        <p:nvSpPr>
          <p:cNvPr id="15" name="arrow-1">
            <a:extLst xmlns:a="http://schemas.openxmlformats.org/drawingml/2006/main">
              <a:ext uri="{FF2B5EF4-FFF2-40B4-BE49-F238E27FC236}">
                <a16:creationId xmlns:a16="http://schemas.microsoft.com/office/drawing/2014/main" id="{7B47FA95-E9ED-4C7E-95BC-9BA5B86DB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571750"/>
            <a:ext cx="523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C71920"/>
                </a:solidFill>
              </a:defRPr>
            </a:pPr>
            <a:r>
              <a:rPr sz="2100" b="1">
                <a:solidFill>
                  <a:srgbClr val="C71920"/>
                </a:solidFill>
              </a:rPr>
              <a:t>↓</a:t>
            </a:r>
          </a:p>
        </p:txBody>
      </p:sp>
      <p:sp>
        <p:nvSpPr>
          <p:cNvPr id="16" name="node-2">
            <a:extLst xmlns:a="http://schemas.openxmlformats.org/drawingml/2006/main">
              <a:ext uri="{FF2B5EF4-FFF2-40B4-BE49-F238E27FC236}">
                <a16:creationId xmlns:a16="http://schemas.microsoft.com/office/drawing/2014/main" id="{ABA5ADED-3D53-4667-B962-99A938F14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43225"/>
            <a:ext cx="857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B8B8B8"/>
            </a:solidFill>
            <a:prstDash val="solid"/>
          </a:ln>
        </p:spPr>
      </p:sp>
      <p:sp>
        <p:nvSpPr>
          <p:cNvPr id="17" name="head-2">
            <a:extLst xmlns:a="http://schemas.openxmlformats.org/drawingml/2006/main">
              <a:ext uri="{FF2B5EF4-FFF2-40B4-BE49-F238E27FC236}">
                <a16:creationId xmlns:a16="http://schemas.microsoft.com/office/drawing/2014/main" id="{BD3032FF-EC56-457B-BC6D-277C12ACD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099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71920"/>
                </a:solidFill>
              </a:defRPr>
            </a:pPr>
            <a:r>
              <a:rPr sz="1800" b="1">
                <a:solidFill>
                  <a:srgbClr val="C71920"/>
                </a:solidFill>
              </a:rPr>
              <a:t>3. Ajuste</a:t>
            </a:r>
          </a:p>
        </p:txBody>
      </p:sp>
      <p:sp>
        <p:nvSpPr>
          <p:cNvPr id="18" name="body-2">
            <a:extLst xmlns:a="http://schemas.openxmlformats.org/drawingml/2006/main">
              <a:ext uri="{FF2B5EF4-FFF2-40B4-BE49-F238E27FC236}">
                <a16:creationId xmlns:a16="http://schemas.microsoft.com/office/drawing/2014/main" id="{7833C559-21BA-472C-95D6-606E049D9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09900"/>
            <a:ext cx="604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51515"/>
                </a:solidFill>
              </a:defRPr>
            </a:pPr>
            <a:r>
              <a:rPr sz="1725" b="0">
                <a:solidFill>
                  <a:srgbClr val="151515"/>
                </a:solidFill>
              </a:rPr>
              <a:t>Complejidad técnica y ambiente</a:t>
            </a:r>
          </a:p>
        </p:txBody>
      </p:sp>
      <p:sp>
        <p:nvSpPr>
          <p:cNvPr id="19" name="arrow-2">
            <a:extLst xmlns:a="http://schemas.openxmlformats.org/drawingml/2006/main">
              <a:ext uri="{FF2B5EF4-FFF2-40B4-BE49-F238E27FC236}">
                <a16:creationId xmlns:a16="http://schemas.microsoft.com/office/drawing/2014/main" id="{EC1D60BB-0E38-4E3B-8F86-B425C0C68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352800"/>
            <a:ext cx="523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C71920"/>
                </a:solidFill>
              </a:defRPr>
            </a:pPr>
            <a:r>
              <a:rPr sz="2100" b="1">
                <a:solidFill>
                  <a:srgbClr val="C71920"/>
                </a:solidFill>
              </a:rPr>
              <a:t>↓</a:t>
            </a:r>
          </a:p>
        </p:txBody>
      </p:sp>
      <p:sp>
        <p:nvSpPr>
          <p:cNvPr id="20" name="node-3">
            <a:extLst xmlns:a="http://schemas.openxmlformats.org/drawingml/2006/main">
              <a:ext uri="{FF2B5EF4-FFF2-40B4-BE49-F238E27FC236}">
                <a16:creationId xmlns:a16="http://schemas.microsoft.com/office/drawing/2014/main" id="{D7D69D8E-E6EB-4EF9-9B1B-293F6A65A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24275"/>
            <a:ext cx="857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B8B8B8"/>
            </a:solidFill>
            <a:prstDash val="solid"/>
          </a:ln>
        </p:spPr>
      </p:sp>
      <p:sp>
        <p:nvSpPr>
          <p:cNvPr id="21" name="head-3">
            <a:extLst xmlns:a="http://schemas.openxmlformats.org/drawingml/2006/main">
              <a:ext uri="{FF2B5EF4-FFF2-40B4-BE49-F238E27FC236}">
                <a16:creationId xmlns:a16="http://schemas.microsoft.com/office/drawing/2014/main" id="{A02D5F85-32E7-46A5-B6EA-B8939AF54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909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71920"/>
                </a:solidFill>
              </a:defRPr>
            </a:pPr>
            <a:r>
              <a:rPr sz="1800" b="1">
                <a:solidFill>
                  <a:srgbClr val="C71920"/>
                </a:solidFill>
              </a:rPr>
              <a:t>4. Esfuerzo</a:t>
            </a:r>
          </a:p>
        </p:txBody>
      </p:sp>
      <p:sp>
        <p:nvSpPr>
          <p:cNvPr id="22" name="body-3">
            <a:extLst xmlns:a="http://schemas.openxmlformats.org/drawingml/2006/main">
              <a:ext uri="{FF2B5EF4-FFF2-40B4-BE49-F238E27FC236}">
                <a16:creationId xmlns:a16="http://schemas.microsoft.com/office/drawing/2014/main" id="{691059C0-2D53-467E-B41D-A340F3259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790950"/>
            <a:ext cx="604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51515"/>
                </a:solidFill>
              </a:defRPr>
            </a:pPr>
            <a:r>
              <a:rPr sz="1725" b="0">
                <a:solidFill>
                  <a:srgbClr val="151515"/>
                </a:solidFill>
              </a:rPr>
              <a:t>PCUA × factor de conversión</a:t>
            </a:r>
          </a:p>
        </p:txBody>
      </p:sp>
      <p:sp>
        <p:nvSpPr>
          <p:cNvPr id="23" name="arrow-3">
            <a:extLst xmlns:a="http://schemas.openxmlformats.org/drawingml/2006/main">
              <a:ext uri="{FF2B5EF4-FFF2-40B4-BE49-F238E27FC236}">
                <a16:creationId xmlns:a16="http://schemas.microsoft.com/office/drawing/2014/main" id="{415C4442-7F70-4753-BA4A-3EC091CE7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133850"/>
            <a:ext cx="523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C71920"/>
                </a:solidFill>
              </a:defRPr>
            </a:pPr>
            <a:r>
              <a:rPr sz="2100" b="1">
                <a:solidFill>
                  <a:srgbClr val="C71920"/>
                </a:solidFill>
              </a:rPr>
              <a:t>↓</a:t>
            </a:r>
          </a:p>
        </p:txBody>
      </p:sp>
      <p:sp>
        <p:nvSpPr>
          <p:cNvPr id="24" name="node-4">
            <a:extLst xmlns:a="http://schemas.openxmlformats.org/drawingml/2006/main">
              <a:ext uri="{FF2B5EF4-FFF2-40B4-BE49-F238E27FC236}">
                <a16:creationId xmlns:a16="http://schemas.microsoft.com/office/drawing/2014/main" id="{EFBB5B68-006E-41D7-BBDA-92219E2D1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05325"/>
            <a:ext cx="857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B8B8B8"/>
            </a:solidFill>
            <a:prstDash val="solid"/>
          </a:ln>
        </p:spPr>
      </p:sp>
      <p:sp>
        <p:nvSpPr>
          <p:cNvPr id="25" name="head-4">
            <a:extLst xmlns:a="http://schemas.openxmlformats.org/drawingml/2006/main">
              <a:ext uri="{FF2B5EF4-FFF2-40B4-BE49-F238E27FC236}">
                <a16:creationId xmlns:a16="http://schemas.microsoft.com/office/drawing/2014/main" id="{AD2F217D-5457-4F9F-B956-658F0B0D9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720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71920"/>
                </a:solidFill>
              </a:defRPr>
            </a:pPr>
            <a:r>
              <a:rPr sz="1800" b="1">
                <a:solidFill>
                  <a:srgbClr val="C71920"/>
                </a:solidFill>
              </a:rPr>
              <a:t>5. Plan</a:t>
            </a:r>
          </a:p>
        </p:txBody>
      </p:sp>
      <p:sp>
        <p:nvSpPr>
          <p:cNvPr id="26" name="body-4">
            <a:extLst xmlns:a="http://schemas.openxmlformats.org/drawingml/2006/main">
              <a:ext uri="{FF2B5EF4-FFF2-40B4-BE49-F238E27FC236}">
                <a16:creationId xmlns:a16="http://schemas.microsoft.com/office/drawing/2014/main" id="{C6381DF0-BD2A-4629-BAC0-D7DF9CE16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72000"/>
            <a:ext cx="604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51515"/>
                </a:solidFill>
              </a:defRPr>
            </a:pPr>
            <a:r>
              <a:rPr sz="1725" b="0">
                <a:solidFill>
                  <a:srgbClr val="151515"/>
                </a:solidFill>
              </a:rPr>
              <a:t>Distribución, personas y duración</a:t>
            </a:r>
          </a:p>
        </p:txBody>
      </p:sp>
      <p:sp>
        <p:nvSpPr>
          <p:cNvPr id="27" name="arrow-4">
            <a:extLst xmlns:a="http://schemas.openxmlformats.org/drawingml/2006/main">
              <a:ext uri="{FF2B5EF4-FFF2-40B4-BE49-F238E27FC236}">
                <a16:creationId xmlns:a16="http://schemas.microsoft.com/office/drawing/2014/main" id="{3D409CDD-A34D-43C9-BD61-EA9F6C847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914900"/>
            <a:ext cx="523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C71920"/>
                </a:solidFill>
              </a:defRPr>
            </a:pPr>
            <a:r>
              <a:rPr sz="2100" b="1">
                <a:solidFill>
                  <a:srgbClr val="C71920"/>
                </a:solidFill>
              </a:rPr>
              <a:t>↓</a:t>
            </a:r>
          </a:p>
        </p:txBody>
      </p:sp>
      <p:sp>
        <p:nvSpPr>
          <p:cNvPr id="28" name="node-5">
            <a:extLst xmlns:a="http://schemas.openxmlformats.org/drawingml/2006/main">
              <a:ext uri="{FF2B5EF4-FFF2-40B4-BE49-F238E27FC236}">
                <a16:creationId xmlns:a16="http://schemas.microsoft.com/office/drawing/2014/main" id="{F9934417-02A2-4DDE-BF1D-7DD4DD735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86375"/>
            <a:ext cx="857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19050">
            <a:solidFill>
              <a:srgbClr val="C71920"/>
            </a:solidFill>
            <a:prstDash val="solid"/>
          </a:ln>
        </p:spPr>
      </p:sp>
      <p:sp>
        <p:nvSpPr>
          <p:cNvPr id="29" name="head-5">
            <a:extLst xmlns:a="http://schemas.openxmlformats.org/drawingml/2006/main">
              <a:ext uri="{FF2B5EF4-FFF2-40B4-BE49-F238E27FC236}">
                <a16:creationId xmlns:a16="http://schemas.microsoft.com/office/drawing/2014/main" id="{8B3225EE-3CBE-4306-B14C-8365C20AD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530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71920"/>
                </a:solidFill>
              </a:defRPr>
            </a:pPr>
            <a:r>
              <a:rPr sz="1800" b="1">
                <a:solidFill>
                  <a:srgbClr val="C71920"/>
                </a:solidFill>
              </a:rPr>
              <a:t>6. Costo</a:t>
            </a:r>
          </a:p>
        </p:txBody>
      </p:sp>
      <p:sp>
        <p:nvSpPr>
          <p:cNvPr id="30" name="body-5">
            <a:extLst xmlns:a="http://schemas.openxmlformats.org/drawingml/2006/main">
              <a:ext uri="{FF2B5EF4-FFF2-40B4-BE49-F238E27FC236}">
                <a16:creationId xmlns:a16="http://schemas.microsoft.com/office/drawing/2014/main" id="{2DCF262E-0660-4870-BE1B-A5D6832D1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353050"/>
            <a:ext cx="604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51515"/>
                </a:solidFill>
              </a:defRPr>
            </a:pPr>
            <a:r>
              <a:rPr sz="1725" b="0">
                <a:solidFill>
                  <a:srgbClr val="151515"/>
                </a:solidFill>
              </a:rPr>
              <a:t>Tarifas + indirectos + riesgos</a:t>
            </a:r>
          </a:p>
        </p:txBody>
      </p:sp>
    </p:spTree>
    <p:extLst>
      <p:ext uri="{BB962C8B-B14F-4D97-AF65-F5344CB8AC3E}">
        <p14:creationId xmlns:p14="http://schemas.microsoft.com/office/powerpoint/2010/main" val="18733358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idebar">
            <a:extLst xmlns:a="http://schemas.openxmlformats.org/drawingml/2006/main">
              <a:ext uri="{FF2B5EF4-FFF2-40B4-BE49-F238E27FC236}">
                <a16:creationId xmlns:a16="http://schemas.microsoft.com/office/drawing/2014/main" id="{41B47682-B285-43FA-8202-669CD2326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1219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10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accent">
            <a:extLst xmlns:a="http://schemas.openxmlformats.org/drawingml/2006/main">
              <a:ext uri="{FF2B5EF4-FFF2-40B4-BE49-F238E27FC236}">
                <a16:creationId xmlns:a16="http://schemas.microsoft.com/office/drawing/2014/main" id="{491CB2F1-018F-40DA-B116-7F0270795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13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4FA4097-2766-4641-8ABD-80DBFBC48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2860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C71920"/>
                </a:solidFill>
              </a:defRPr>
            </a:pPr>
            <a:r>
              <a:rPr sz="3000" b="1">
                <a:solidFill>
                  <a:srgbClr val="C71920"/>
                </a:solidFill>
              </a:rPr>
              <a:t>Métodos y Variables que se Estiman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C82E0653-C179-4F5A-AA92-FEFAE3415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028700"/>
            <a:ext cx="10620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DF2A3D13-E986-41BF-BDB3-B6831B2AD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4389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1515"/>
                </a:solidFill>
              </a:defRPr>
            </a:pPr>
            <a:r>
              <a:rPr sz="1350" b="0">
                <a:solidFill>
                  <a:srgbClr val="151515"/>
                </a:solidFill>
              </a:rPr>
              <a:t>Planificación y Estimación · Organízate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EAD5D157-C37D-421E-A89B-FBF954E83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389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51515"/>
                </a:solidFill>
              </a:defRPr>
            </a:pPr>
            <a:r>
              <a:rPr sz="1350" b="0">
                <a:solidFill>
                  <a:srgbClr val="151515"/>
                </a:solidFill>
              </a:rPr>
              <a:t>3</a:t>
            </a:r>
          </a:p>
        </p:txBody>
      </p:sp>
      <p:sp>
        <p:nvSpPr>
          <p:cNvPr id="7" name="side-page">
            <a:extLst xmlns:a="http://schemas.openxmlformats.org/drawingml/2006/main">
              <a:ext uri="{FF2B5EF4-FFF2-40B4-BE49-F238E27FC236}">
                <a16:creationId xmlns:a16="http://schemas.microsoft.com/office/drawing/2014/main" id="{4C39C5D3-5008-4741-9D1D-8753FD01B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3 de 9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400050" y="1476375"/>
          <a:ext xmlns:a="http://schemas.openxmlformats.org/drawingml/2006/main" cx="1019175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3333750"/>
                <a:gridCol w="4286250"/>
              </a:tblGrid>
              <a:tr h="571500">
                <a:tc>
                  <a:txBody>
                    <a:bodyPr/>
                    <a:lstStyle/>
                    <a:p>
                      <a:r>
                        <a:rPr sz="1575" b="1"/>
                        <a:t>Enfoque</a:t>
                      </a:r>
                    </a:p>
                  </a:txBody>
                  <a:tcPr marL="95250" marR="95250" marT="47625" marB="47625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/>
                        <a:t>Punto de partida</a:t>
                      </a:r>
                    </a:p>
                  </a:txBody>
                  <a:tcPr marL="95250" marR="95250" marT="47625" marB="47625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/>
                        <a:t>Uso</a:t>
                      </a:r>
                    </a:p>
                  </a:txBody>
                  <a:tcPr marL="95250" marR="95250" marT="47625" marB="47625" anchor="ctr">
                    <a:solidFill>
                      <a:srgbClr val="F5F5F5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425"/>
                        <a:t>COCOMO / Putnam</a:t>
                      </a:r>
                    </a:p>
                  </a:txBody>
                  <a:tcPr marL="95250" marR="95250" marT="38100" marB="38100" anchor="ctr"/>
                </a:tc>
                <a:tc>
                  <a:txBody>
                    <a:bodyPr/>
                    <a:lstStyle/>
                    <a:p>
                      <a:r>
                        <a:rPr sz="1425"/>
                        <a:t>Tamaño en líneas de código</a:t>
                      </a:r>
                    </a:p>
                  </a:txBody>
                  <a:tcPr marL="95250" marR="95250" marT="38100" marB="38100" anchor="ctr"/>
                </a:tc>
                <a:tc>
                  <a:txBody>
                    <a:bodyPr/>
                    <a:lstStyle/>
                    <a:p>
                      <a:r>
                        <a:rPr sz="1425"/>
                        <a:t>Esfuerzo, tiempo y costo</a:t>
                      </a:r>
                    </a:p>
                  </a:txBody>
                  <a:tcPr marL="95250" marR="95250" marT="38100" marB="38100" anchor="ctr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425"/>
                        <a:t>Puntos de Función</a:t>
                      </a:r>
                    </a:p>
                  </a:txBody>
                  <a:tcPr marL="95250" marR="95250" marT="38100" marB="38100" anchor="ctr"/>
                </a:tc>
                <a:tc>
                  <a:txBody>
                    <a:bodyPr/>
                    <a:lstStyle/>
                    <a:p>
                      <a:r>
                        <a:rPr sz="1425"/>
                        <a:t>Transacciones y archivos</a:t>
                      </a:r>
                    </a:p>
                  </a:txBody>
                  <a:tcPr marL="95250" marR="95250" marT="38100" marB="38100" anchor="ctr"/>
                </a:tc>
                <a:tc>
                  <a:txBody>
                    <a:bodyPr/>
                    <a:lstStyle/>
                    <a:p>
                      <a:r>
                        <a:rPr sz="1425"/>
                        <a:t>Funcionalidad independiente del lenguaje</a:t>
                      </a:r>
                    </a:p>
                  </a:txBody>
                  <a:tcPr marL="95250" marR="95250" marT="38100" marB="38100" anchor="ctr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425"/>
                        <a:t>Puntos de Casos de Uso</a:t>
                      </a:r>
                    </a:p>
                  </a:txBody>
                  <a:tcPr marL="95250" marR="95250" marT="38100" marB="38100" anchor="ctr"/>
                </a:tc>
                <a:tc>
                  <a:txBody>
                    <a:bodyPr/>
                    <a:lstStyle/>
                    <a:p>
                      <a:r>
                        <a:rPr sz="1425"/>
                        <a:t>Actores, casos de uso y complejidad</a:t>
                      </a:r>
                    </a:p>
                  </a:txBody>
                  <a:tcPr marL="95250" marR="95250" marT="38100" marB="38100" anchor="ctr"/>
                </a:tc>
                <a:tc>
                  <a:txBody>
                    <a:bodyPr/>
                    <a:lstStyle/>
                    <a:p>
                      <a:r>
                        <a:rPr sz="1425"/>
                        <a:t>Proyectos definidos mediante casos de uso</a:t>
                      </a:r>
                    </a:p>
                  </a:txBody>
                  <a:tcPr marL="95250" marR="95250" marT="38100" marB="38100" anchor="ctr"/>
                </a:tc>
              </a:tr>
            </a:tbl>
          </a:graphicData>
        </a:graphic>
      </p:graphicFrame>
      <p:sp>
        <p:nvSpPr>
          <p:cNvPr id="9" name="dot-445">
            <a:extLst xmlns:a="http://schemas.openxmlformats.org/drawingml/2006/main">
              <a:ext uri="{FF2B5EF4-FFF2-40B4-BE49-F238E27FC236}">
                <a16:creationId xmlns:a16="http://schemas.microsoft.com/office/drawing/2014/main" id="{A0199975-C27B-4478-AEFC-44394A7E2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4238625"/>
            <a:ext cx="28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71920"/>
                </a:solidFill>
              </a:defRPr>
            </a:pPr>
            <a:r>
              <a:rPr sz="2100" b="1">
                <a:solidFill>
                  <a:srgbClr val="C71920"/>
                </a:solidFill>
              </a:rPr>
              <a:t>⊙</a:t>
            </a:r>
          </a:p>
        </p:txBody>
      </p:sp>
      <p:sp>
        <p:nvSpPr>
          <p:cNvPr id="10" name="b-445">
            <a:extLst xmlns:a="http://schemas.openxmlformats.org/drawingml/2006/main">
              <a:ext uri="{FF2B5EF4-FFF2-40B4-BE49-F238E27FC236}">
                <a16:creationId xmlns:a16="http://schemas.microsoft.com/office/drawing/2014/main" id="{EF2F689F-D957-4CFA-9355-DF9216529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19575"/>
            <a:ext cx="1000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51515"/>
                </a:solidFill>
              </a:defRPr>
            </a:pPr>
            <a:r>
              <a:rPr sz="1875" b="0">
                <a:solidFill>
                  <a:srgbClr val="151515"/>
                </a:solidFill>
              </a:rPr>
              <a:t>Variables: tamaño del software; esfuerzo en H/H, H/D o H/M; duración; cantidad de personas; costo.</a:t>
            </a:r>
          </a:p>
        </p:txBody>
      </p:sp>
      <p:sp>
        <p:nvSpPr>
          <p:cNvPr id="11" name="dot-545">
            <a:extLst xmlns:a="http://schemas.openxmlformats.org/drawingml/2006/main">
              <a:ext uri="{FF2B5EF4-FFF2-40B4-BE49-F238E27FC236}">
                <a16:creationId xmlns:a16="http://schemas.microsoft.com/office/drawing/2014/main" id="{0F3F1526-ED3F-4522-9125-1686BEC65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5191125"/>
            <a:ext cx="28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71920"/>
                </a:solidFill>
              </a:defRPr>
            </a:pPr>
            <a:r>
              <a:rPr sz="2100" b="1">
                <a:solidFill>
                  <a:srgbClr val="C71920"/>
                </a:solidFill>
              </a:rPr>
              <a:t>⊙</a:t>
            </a:r>
          </a:p>
        </p:txBody>
      </p:sp>
      <p:sp>
        <p:nvSpPr>
          <p:cNvPr id="12" name="b-545">
            <a:extLst xmlns:a="http://schemas.openxmlformats.org/drawingml/2006/main">
              <a:ext uri="{FF2B5EF4-FFF2-40B4-BE49-F238E27FC236}">
                <a16:creationId xmlns:a16="http://schemas.microsoft.com/office/drawing/2014/main" id="{C7E5168D-5080-41C2-8DD4-A0CD703B2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72075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51515"/>
                </a:solidFill>
              </a:defRPr>
            </a:pPr>
            <a:r>
              <a:rPr sz="1875" b="0">
                <a:solidFill>
                  <a:srgbClr val="151515"/>
                </a:solidFill>
              </a:rPr>
              <a:t>Para “Organízate”, PCU es apropiado: existen tres roles, múltiples flujos funcionales y factores técnicos identificables.</a:t>
            </a:r>
          </a:p>
        </p:txBody>
      </p:sp>
    </p:spTree>
    <p:extLst>
      <p:ext uri="{BB962C8B-B14F-4D97-AF65-F5344CB8AC3E}">
        <p14:creationId xmlns:p14="http://schemas.microsoft.com/office/powerpoint/2010/main" val="11591227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idebar">
            <a:extLst xmlns:a="http://schemas.openxmlformats.org/drawingml/2006/main">
              <a:ext uri="{FF2B5EF4-FFF2-40B4-BE49-F238E27FC236}">
                <a16:creationId xmlns:a16="http://schemas.microsoft.com/office/drawing/2014/main" id="{81CF3DD4-98F7-4D36-ADC9-A788F9B93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1219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10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accent">
            <a:extLst xmlns:a="http://schemas.openxmlformats.org/drawingml/2006/main">
              <a:ext uri="{FF2B5EF4-FFF2-40B4-BE49-F238E27FC236}">
                <a16:creationId xmlns:a16="http://schemas.microsoft.com/office/drawing/2014/main" id="{1D566832-A534-4C96-B0AA-8EF5BB40E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13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639A1B1-C296-41D2-AC4E-10F107B19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2860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C71920"/>
                </a:solidFill>
              </a:defRPr>
            </a:pPr>
            <a:r>
              <a:rPr sz="3000" b="1">
                <a:solidFill>
                  <a:srgbClr val="C71920"/>
                </a:solidFill>
              </a:rPr>
              <a:t>Paso 1 · Puntos de Casos de Uso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0D47CCD2-8242-4CE5-A88B-45ED5B9DD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028700"/>
            <a:ext cx="10620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32F86827-FDC6-4AAA-84CF-8837E757B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4389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1515"/>
                </a:solidFill>
              </a:defRPr>
            </a:pPr>
            <a:r>
              <a:rPr sz="1350" b="0">
                <a:solidFill>
                  <a:srgbClr val="151515"/>
                </a:solidFill>
              </a:rPr>
              <a:t>Planificación y Estimación · Organízate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FD8C75C1-1EA9-457B-9190-7B8DA434C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389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51515"/>
                </a:solidFill>
              </a:defRPr>
            </a:pPr>
            <a:r>
              <a:rPr sz="1350" b="0">
                <a:solidFill>
                  <a:srgbClr val="151515"/>
                </a:solidFill>
              </a:rPr>
              <a:t>4</a:t>
            </a:r>
          </a:p>
        </p:txBody>
      </p:sp>
      <p:sp>
        <p:nvSpPr>
          <p:cNvPr id="7" name="side-page">
            <a:extLst xmlns:a="http://schemas.openxmlformats.org/drawingml/2006/main">
              <a:ext uri="{FF2B5EF4-FFF2-40B4-BE49-F238E27FC236}">
                <a16:creationId xmlns:a16="http://schemas.microsoft.com/office/drawing/2014/main" id="{400BC87B-BFA7-4529-89BF-DF0DC3A3E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4 de 9</a:t>
            </a:r>
          </a:p>
        </p:txBody>
      </p:sp>
      <p:sp>
        <p:nvSpPr>
          <p:cNvPr id="8" name="formula">
            <a:extLst xmlns:a="http://schemas.openxmlformats.org/drawingml/2006/main">
              <a:ext uri="{FF2B5EF4-FFF2-40B4-BE49-F238E27FC236}">
                <a16:creationId xmlns:a16="http://schemas.microsoft.com/office/drawing/2014/main" id="{DAAC5FC9-109A-4824-8BF0-F9A3892F8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335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C71920"/>
                </a:solidFill>
              </a:defRPr>
            </a:pPr>
            <a:r>
              <a:rPr sz="2250" b="1">
                <a:solidFill>
                  <a:srgbClr val="C71920"/>
                </a:solidFill>
              </a:rPr>
              <a:t>PCU = FPA + FPCU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523875" y="2143125"/>
          <a:ext xmlns:a="http://schemas.openxmlformats.org/drawingml/2006/main" cx="99060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5810250"/>
                <a:gridCol w="1714500"/>
              </a:tblGrid>
              <a:tr h="476250">
                <a:tc>
                  <a:txBody>
                    <a:bodyPr/>
                    <a:lstStyle/>
                    <a:p>
                      <a:r>
                        <a:rPr sz="1575" b="1"/>
                        <a:t>Componente</a:t>
                      </a:r>
                    </a:p>
                  </a:txBody>
                  <a:tcPr marL="95250" marR="95250" marT="47625" marB="47625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/>
                        <a:t>Clasificación</a:t>
                      </a:r>
                    </a:p>
                  </a:txBody>
                  <a:tcPr marL="95250" marR="95250" marT="47625" marB="47625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/>
                        <a:t>Peso</a:t>
                      </a:r>
                    </a:p>
                  </a:txBody>
                  <a:tcPr marL="95250" marR="95250" marT="47625" marB="47625" anchor="ctr">
                    <a:solidFill>
                      <a:srgbClr val="F5F5F5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425"/>
                        <a:t>Actor</a:t>
                      </a:r>
                    </a:p>
                  </a:txBody>
                  <a:tcPr marL="95250" marR="95250" marT="38100" marB="38100" anchor="ctr"/>
                </a:tc>
                <a:tc>
                  <a:txBody>
                    <a:bodyPr/>
                    <a:lstStyle/>
                    <a:p>
                      <a:r>
                        <a:rPr sz="1425"/>
                        <a:t>Simple: API / sistema</a:t>
                      </a:r>
                    </a:p>
                  </a:txBody>
                  <a:tcPr marL="95250" marR="95250" marT="38100" marB="38100" anchor="ctr"/>
                </a:tc>
                <a:tc>
                  <a:txBody>
                    <a:bodyPr/>
                    <a:lstStyle/>
                    <a:p>
                      <a:r>
                        <a:rPr sz="1425"/>
                        <a:t>1</a:t>
                      </a:r>
                    </a:p>
                  </a:txBody>
                  <a:tcPr marL="95250" marR="95250" marT="38100" marB="38100" anchor="ctr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425"/>
                        <a:t>Actor</a:t>
                      </a:r>
                    </a:p>
                  </a:txBody>
                  <a:tcPr marL="95250" marR="95250" marT="38100" marB="38100" anchor="ctr"/>
                </a:tc>
                <a:tc>
                  <a:txBody>
                    <a:bodyPr/>
                    <a:lstStyle/>
                    <a:p>
                      <a:r>
                        <a:rPr sz="1425"/>
                        <a:t>Medio: protocolo o texto</a:t>
                      </a:r>
                    </a:p>
                  </a:txBody>
                  <a:tcPr marL="95250" marR="95250" marT="38100" marB="38100" anchor="ctr"/>
                </a:tc>
                <a:tc>
                  <a:txBody>
                    <a:bodyPr/>
                    <a:lstStyle/>
                    <a:p>
                      <a:r>
                        <a:rPr sz="1425"/>
                        <a:t>2</a:t>
                      </a:r>
                    </a:p>
                  </a:txBody>
                  <a:tcPr marL="95250" marR="95250" marT="38100" marB="38100" anchor="ctr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425"/>
                        <a:t>Actor</a:t>
                      </a:r>
                    </a:p>
                  </a:txBody>
                  <a:tcPr marL="95250" marR="95250" marT="38100" marB="38100" anchor="ctr"/>
                </a:tc>
                <a:tc>
                  <a:txBody>
                    <a:bodyPr/>
                    <a:lstStyle/>
                    <a:p>
                      <a:r>
                        <a:rPr sz="1425"/>
                        <a:t>Complejo: persona con interfaz gráfica</a:t>
                      </a:r>
                    </a:p>
                  </a:txBody>
                  <a:tcPr marL="95250" marR="95250" marT="38100" marB="38100" anchor="ctr"/>
                </a:tc>
                <a:tc>
                  <a:txBody>
                    <a:bodyPr/>
                    <a:lstStyle/>
                    <a:p>
                      <a:r>
                        <a:rPr sz="1425"/>
                        <a:t>3</a:t>
                      </a:r>
                    </a:p>
                  </a:txBody>
                  <a:tcPr marL="95250" marR="95250" marT="38100" marB="38100" anchor="ctr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425"/>
                        <a:t>Caso de uso</a:t>
                      </a:r>
                    </a:p>
                  </a:txBody>
                  <a:tcPr marL="95250" marR="95250" marT="38100" marB="38100" anchor="ctr"/>
                </a:tc>
                <a:tc>
                  <a:txBody>
                    <a:bodyPr/>
                    <a:lstStyle/>
                    <a:p>
                      <a:r>
                        <a:rPr sz="1425"/>
                        <a:t>Simple: menos de 4 transacciones</a:t>
                      </a:r>
                    </a:p>
                  </a:txBody>
                  <a:tcPr marL="95250" marR="95250" marT="38100" marB="38100" anchor="ctr"/>
                </a:tc>
                <a:tc>
                  <a:txBody>
                    <a:bodyPr/>
                    <a:lstStyle/>
                    <a:p>
                      <a:r>
                        <a:rPr sz="1425"/>
                        <a:t>5</a:t>
                      </a:r>
                    </a:p>
                  </a:txBody>
                  <a:tcPr marL="95250" marR="95250" marT="38100" marB="38100" anchor="ctr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425"/>
                        <a:t>Caso de uso</a:t>
                      </a:r>
                    </a:p>
                  </a:txBody>
                  <a:tcPr marL="95250" marR="95250" marT="38100" marB="38100" anchor="ctr"/>
                </a:tc>
                <a:tc>
                  <a:txBody>
                    <a:bodyPr/>
                    <a:lstStyle/>
                    <a:p>
                      <a:r>
                        <a:rPr sz="1425"/>
                        <a:t>Medio: de 4 a 7 transacciones</a:t>
                      </a:r>
                    </a:p>
                  </a:txBody>
                  <a:tcPr marL="95250" marR="95250" marT="38100" marB="38100" anchor="ctr"/>
                </a:tc>
                <a:tc>
                  <a:txBody>
                    <a:bodyPr/>
                    <a:lstStyle/>
                    <a:p>
                      <a:r>
                        <a:rPr sz="1425"/>
                        <a:t>10</a:t>
                      </a:r>
                    </a:p>
                  </a:txBody>
                  <a:tcPr marL="95250" marR="95250" marT="38100" marB="38100" anchor="ctr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425"/>
                        <a:t>Caso de uso</a:t>
                      </a:r>
                    </a:p>
                  </a:txBody>
                  <a:tcPr marL="95250" marR="95250" marT="38100" marB="38100" anchor="ctr"/>
                </a:tc>
                <a:tc>
                  <a:txBody>
                    <a:bodyPr/>
                    <a:lstStyle/>
                    <a:p>
                      <a:r>
                        <a:rPr sz="1425"/>
                        <a:t>Complejo: más de 7 transacciones</a:t>
                      </a:r>
                    </a:p>
                  </a:txBody>
                  <a:tcPr marL="95250" marR="95250" marT="38100" marB="38100" anchor="ctr"/>
                </a:tc>
                <a:tc>
                  <a:txBody>
                    <a:bodyPr/>
                    <a:lstStyle/>
                    <a:p>
                      <a:r>
                        <a:rPr sz="1425"/>
                        <a:t>15</a:t>
                      </a:r>
                    </a:p>
                  </a:txBody>
                  <a:tcPr marL="95250" marR="95250" marT="38100" marB="38100" anchor="ctr"/>
                </a:tc>
              </a:tr>
            </a:tbl>
          </a:graphicData>
        </a:graphic>
      </p:graphicFrame>
      <p:sp>
        <p:nvSpPr>
          <p:cNvPr id="10" name="note">
            <a:extLst xmlns:a="http://schemas.openxmlformats.org/drawingml/2006/main">
              <a:ext uri="{FF2B5EF4-FFF2-40B4-BE49-F238E27FC236}">
                <a16:creationId xmlns:a16="http://schemas.microsoft.com/office/drawing/2014/main" id="{62BD0507-0D5D-4B8A-ABB5-9BEB75461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1500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51515"/>
                </a:solidFill>
              </a:defRPr>
            </a:pPr>
            <a:r>
              <a:rPr sz="1650" b="1">
                <a:solidFill>
                  <a:srgbClr val="151515"/>
                </a:solidFill>
              </a:rPr>
              <a:t>FPA suma actores ponderados; FPCU suma casos de uso ponderados.</a:t>
            </a:r>
          </a:p>
        </p:txBody>
      </p:sp>
    </p:spTree>
    <p:extLst>
      <p:ext uri="{BB962C8B-B14F-4D97-AF65-F5344CB8AC3E}">
        <p14:creationId xmlns:p14="http://schemas.microsoft.com/office/powerpoint/2010/main" val="3634300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idebar">
            <a:extLst xmlns:a="http://schemas.openxmlformats.org/drawingml/2006/main">
              <a:ext uri="{FF2B5EF4-FFF2-40B4-BE49-F238E27FC236}">
                <a16:creationId xmlns:a16="http://schemas.microsoft.com/office/drawing/2014/main" id="{894D7E68-B660-41AB-BBFC-A76C3900E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1219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10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accent">
            <a:extLst xmlns:a="http://schemas.openxmlformats.org/drawingml/2006/main">
              <a:ext uri="{FF2B5EF4-FFF2-40B4-BE49-F238E27FC236}">
                <a16:creationId xmlns:a16="http://schemas.microsoft.com/office/drawing/2014/main" id="{FBAC469B-AE53-4E0A-81E1-483DD2566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13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1AE9E48-DC46-48F6-96DA-97973DC64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2860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C71920"/>
                </a:solidFill>
              </a:defRPr>
            </a:pPr>
            <a:r>
              <a:rPr sz="3000" b="1">
                <a:solidFill>
                  <a:srgbClr val="C71920"/>
                </a:solidFill>
              </a:rPr>
              <a:t>Paso 2 · Ajustar por Tecnología y Ambiente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88088338-5A1C-40E8-8E4D-4A205FF4A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028700"/>
            <a:ext cx="10620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DB418BE1-CE47-4485-A948-DD633DA4C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4389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1515"/>
                </a:solidFill>
              </a:defRPr>
            </a:pPr>
            <a:r>
              <a:rPr sz="1350" b="0">
                <a:solidFill>
                  <a:srgbClr val="151515"/>
                </a:solidFill>
              </a:rPr>
              <a:t>Planificación y Estimación · Organízate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7A4B3926-84CC-46D8-911F-53C81FD84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389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51515"/>
                </a:solidFill>
              </a:defRPr>
            </a:pPr>
            <a:r>
              <a:rPr sz="1350" b="0">
                <a:solidFill>
                  <a:srgbClr val="151515"/>
                </a:solidFill>
              </a:rPr>
              <a:t>5</a:t>
            </a:r>
          </a:p>
        </p:txBody>
      </p:sp>
      <p:sp>
        <p:nvSpPr>
          <p:cNvPr id="7" name="side-page">
            <a:extLst xmlns:a="http://schemas.openxmlformats.org/drawingml/2006/main">
              <a:ext uri="{FF2B5EF4-FFF2-40B4-BE49-F238E27FC236}">
                <a16:creationId xmlns:a16="http://schemas.microsoft.com/office/drawing/2014/main" id="{29B27D9B-BB09-4BDA-9452-CFF029120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5 de 9</a:t>
            </a:r>
          </a:p>
        </p:txBody>
      </p:sp>
      <p:sp>
        <p:nvSpPr>
          <p:cNvPr id="8" name="pcua">
            <a:extLst xmlns:a="http://schemas.openxmlformats.org/drawingml/2006/main">
              <a:ext uri="{FF2B5EF4-FFF2-40B4-BE49-F238E27FC236}">
                <a16:creationId xmlns:a16="http://schemas.microsoft.com/office/drawing/2014/main" id="{1D2D922B-C61F-4B1D-898F-2D93D9E62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285875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C71920"/>
                </a:solidFill>
              </a:defRPr>
            </a:pPr>
            <a:r>
              <a:rPr sz="2250" b="1">
                <a:solidFill>
                  <a:srgbClr val="C71920"/>
                </a:solidFill>
              </a:rPr>
              <a:t>PCUA = PCU × FCT × FA</a:t>
            </a:r>
          </a:p>
        </p:txBody>
      </p:sp>
      <p:graphicFrame>
        <p:nvGraphicFramePr>
          <p:cNvPr id="22" name=""/>
          <p:cNvGraphicFramePr/>
          <p:nvPr/>
        </p:nvGraphicFramePr>
        <p:xfrm>
          <a:off xmlns:a="http://schemas.openxmlformats.org/drawingml/2006/main" x="400050" y="2238375"/>
          <a:ext xmlns:a="http://schemas.openxmlformats.org/drawingml/2006/main" cx="10191750" cy="2381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3000375"/>
                <a:gridCol w="5667375"/>
              </a:tblGrid>
              <a:tr h="793750">
                <a:tc>
                  <a:txBody>
                    <a:bodyPr/>
                    <a:lstStyle/>
                    <a:p>
                      <a:r>
                        <a:rPr sz="1500" b="1"/>
                        <a:t>Factor</a:t>
                      </a:r>
                    </a:p>
                  </a:txBody>
                  <a:tcPr marL="95250" marR="95250" marT="47625" marB="47625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/>
                        <a:t>Fórmula</a:t>
                      </a:r>
                    </a:p>
                  </a:txBody>
                  <a:tcPr marL="95250" marR="95250" marT="47625" marB="47625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/>
                        <a:t>Aspectos relacionados</a:t>
                      </a:r>
                    </a:p>
                  </a:txBody>
                  <a:tcPr marL="95250" marR="95250" marT="47625" marB="47625" anchor="ctr">
                    <a:solidFill>
                      <a:srgbClr val="F5F5F5"/>
                    </a:solidFill>
                  </a:tcPr>
                </a:tc>
              </a:tr>
              <a:tr h="793750">
                <a:tc>
                  <a:txBody>
                    <a:bodyPr/>
                    <a:lstStyle/>
                    <a:p>
                      <a:r>
                        <a:rPr sz="1350"/>
                        <a:t>FCT</a:t>
                      </a:r>
                    </a:p>
                  </a:txBody>
                  <a:tcPr marL="95250" marR="95250" marT="38100" marB="38100" anchor="ctr"/>
                </a:tc>
                <a:tc>
                  <a:txBody>
                    <a:bodyPr/>
                    <a:lstStyle/>
                    <a:p>
                      <a:r>
                        <a:rPr sz="1350"/>
                        <a:t>0.6 + 0.01 × Σ(peso × valor)</a:t>
                      </a:r>
                    </a:p>
                  </a:txBody>
                  <a:tcPr marL="95250" marR="95250" marT="38100" marB="38100" anchor="ctr"/>
                </a:tc>
                <a:tc>
                  <a:txBody>
                    <a:bodyPr/>
                    <a:lstStyle/>
                    <a:p>
                      <a:r>
                        <a:rPr sz="1350"/>
                        <a:t>Distribución, rendimiento, reutilización, instalación, uso, portabilidad, cambio, concurrencia, seguridad, terceros y entrenamiento</a:t>
                      </a:r>
                    </a:p>
                  </a:txBody>
                  <a:tcPr marL="95250" marR="95250" marT="38100" marB="38100" anchor="ctr"/>
                </a:tc>
              </a:tr>
              <a:tr h="793750">
                <a:tc>
                  <a:txBody>
                    <a:bodyPr/>
                    <a:lstStyle/>
                    <a:p>
                      <a:r>
                        <a:rPr sz="1350"/>
                        <a:t>FA</a:t>
                      </a:r>
                    </a:p>
                  </a:txBody>
                  <a:tcPr marL="95250" marR="95250" marT="38100" marB="38100" anchor="ctr"/>
                </a:tc>
                <a:tc>
                  <a:txBody>
                    <a:bodyPr/>
                    <a:lstStyle/>
                    <a:p>
                      <a:r>
                        <a:rPr sz="1350"/>
                        <a:t>1.4 − 0.03 × Σ(peso × valor)</a:t>
                      </a:r>
                    </a:p>
                  </a:txBody>
                  <a:tcPr marL="95250" marR="95250" marT="38100" marB="38100" anchor="ctr"/>
                </a:tc>
                <a:tc>
                  <a:txBody>
                    <a:bodyPr/>
                    <a:lstStyle/>
                    <a:p>
                      <a:r>
                        <a:rPr sz="1350"/>
                        <a:t>Experiencia, capacidad del analista, motivación, estabilidad de requisitos, dedicación y dificultad del lenguaje</a:t>
                      </a:r>
                    </a:p>
                  </a:txBody>
                  <a:tcPr marL="95250" marR="95250" marT="38100" marB="38100" anchor="ctr"/>
                </a:tc>
              </a:tr>
            </a:tbl>
          </a:graphicData>
        </a:graphic>
      </p:graphicFrame>
      <p:sp>
        <p:nvSpPr>
          <p:cNvPr id="10" name="dot-520">
            <a:extLst xmlns:a="http://schemas.openxmlformats.org/drawingml/2006/main">
              <a:ext uri="{FF2B5EF4-FFF2-40B4-BE49-F238E27FC236}">
                <a16:creationId xmlns:a16="http://schemas.microsoft.com/office/drawing/2014/main" id="{D5A7E29B-97F8-4FD1-9476-E5EA19C8F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4953000"/>
            <a:ext cx="28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C71920"/>
                </a:solidFill>
              </a:defRPr>
            </a:pPr>
            <a:r>
              <a:rPr sz="2025" b="1">
                <a:solidFill>
                  <a:srgbClr val="C71920"/>
                </a:solidFill>
              </a:rPr>
              <a:t>⊙</a:t>
            </a:r>
          </a:p>
        </p:txBody>
      </p:sp>
      <p:sp>
        <p:nvSpPr>
          <p:cNvPr id="11" name="b-520">
            <a:extLst xmlns:a="http://schemas.openxmlformats.org/drawingml/2006/main">
              <a:ext uri="{FF2B5EF4-FFF2-40B4-BE49-F238E27FC236}">
                <a16:creationId xmlns:a16="http://schemas.microsoft.com/office/drawing/2014/main" id="{F0A73177-22C7-47E9-965C-099EEDBBF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33950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51515"/>
                </a:solidFill>
              </a:defRPr>
            </a:pPr>
            <a:r>
              <a:rPr sz="1800" b="0">
                <a:solidFill>
                  <a:srgbClr val="151515"/>
                </a:solidFill>
              </a:rPr>
              <a:t>Cada factor se valora de 0 a 5 según su relevancia o condición en el proyecto.</a:t>
            </a:r>
          </a:p>
        </p:txBody>
      </p:sp>
      <p:sp>
        <p:nvSpPr>
          <p:cNvPr id="12" name="dot-585">
            <a:extLst xmlns:a="http://schemas.openxmlformats.org/drawingml/2006/main">
              <a:ext uri="{FF2B5EF4-FFF2-40B4-BE49-F238E27FC236}">
                <a16:creationId xmlns:a16="http://schemas.microsoft.com/office/drawing/2014/main" id="{A4B496D9-FCD1-489D-93D5-B479E1170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5572125"/>
            <a:ext cx="28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C71920"/>
                </a:solidFill>
              </a:defRPr>
            </a:pPr>
            <a:r>
              <a:rPr sz="1950" b="1">
                <a:solidFill>
                  <a:srgbClr val="C71920"/>
                </a:solidFill>
              </a:rPr>
              <a:t>⊙</a:t>
            </a:r>
          </a:p>
        </p:txBody>
      </p:sp>
      <p:sp>
        <p:nvSpPr>
          <p:cNvPr id="13" name="b-585">
            <a:extLst xmlns:a="http://schemas.openxmlformats.org/drawingml/2006/main">
              <a:ext uri="{FF2B5EF4-FFF2-40B4-BE49-F238E27FC236}">
                <a16:creationId xmlns:a16="http://schemas.microsoft.com/office/drawing/2014/main" id="{7C7836EC-7C6F-404A-B4A2-FF5950F5E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53075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51515"/>
                </a:solidFill>
              </a:defRPr>
            </a:pPr>
            <a:r>
              <a:rPr sz="1725" b="0">
                <a:solidFill>
                  <a:srgbClr val="151515"/>
                </a:solidFill>
              </a:rPr>
              <a:t>En “Organízate” influyen seguridad por roles, API, Docker, PostgreSQL, facilidad de uso y experiencia con Laravel/JavaScript.</a:t>
            </a:r>
          </a:p>
        </p:txBody>
      </p:sp>
    </p:spTree>
    <p:extLst>
      <p:ext uri="{BB962C8B-B14F-4D97-AF65-F5344CB8AC3E}">
        <p14:creationId xmlns:p14="http://schemas.microsoft.com/office/powerpoint/2010/main" val="11950239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idebar">
            <a:extLst xmlns:a="http://schemas.openxmlformats.org/drawingml/2006/main">
              <a:ext uri="{FF2B5EF4-FFF2-40B4-BE49-F238E27FC236}">
                <a16:creationId xmlns:a16="http://schemas.microsoft.com/office/drawing/2014/main" id="{C66C2C15-8AAF-4B52-B16B-DC18B5305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1219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10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accent">
            <a:extLst xmlns:a="http://schemas.openxmlformats.org/drawingml/2006/main">
              <a:ext uri="{FF2B5EF4-FFF2-40B4-BE49-F238E27FC236}">
                <a16:creationId xmlns:a16="http://schemas.microsoft.com/office/drawing/2014/main" id="{B617FE83-8CC1-4F32-9AEB-E7E1BD25D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13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3AFFFAA-2E3F-442F-91EF-56AED2785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2860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C71920"/>
                </a:solidFill>
              </a:defRPr>
            </a:pPr>
            <a:r>
              <a:rPr sz="3000" b="1">
                <a:solidFill>
                  <a:srgbClr val="C71920"/>
                </a:solidFill>
              </a:rPr>
              <a:t>Paso 3 · Del PCUA al Esfuerzo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048308A7-88C2-4B0D-9FB2-FECEBC678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028700"/>
            <a:ext cx="10620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6E78E026-0560-491D-BF73-65E2E7469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4389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1515"/>
                </a:solidFill>
              </a:defRPr>
            </a:pPr>
            <a:r>
              <a:rPr sz="1350" b="0">
                <a:solidFill>
                  <a:srgbClr val="151515"/>
                </a:solidFill>
              </a:rPr>
              <a:t>Planificación y Estimación · Organízate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47D8F929-B3DA-4E0E-9E90-181647DCE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389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51515"/>
                </a:solidFill>
              </a:defRPr>
            </a:pPr>
            <a:r>
              <a:rPr sz="1350" b="0">
                <a:solidFill>
                  <a:srgbClr val="151515"/>
                </a:solidFill>
              </a:rPr>
              <a:t>6</a:t>
            </a:r>
          </a:p>
        </p:txBody>
      </p:sp>
      <p:sp>
        <p:nvSpPr>
          <p:cNvPr id="7" name="side-page">
            <a:extLst xmlns:a="http://schemas.openxmlformats.org/drawingml/2006/main">
              <a:ext uri="{FF2B5EF4-FFF2-40B4-BE49-F238E27FC236}">
                <a16:creationId xmlns:a16="http://schemas.microsoft.com/office/drawing/2014/main" id="{38012CD3-9DFB-4111-9AF4-9BC03F112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6 de 9</a:t>
            </a:r>
          </a:p>
        </p:txBody>
      </p:sp>
      <p:sp>
        <p:nvSpPr>
          <p:cNvPr id="8" name="call">
            <a:extLst xmlns:a="http://schemas.openxmlformats.org/drawingml/2006/main">
              <a:ext uri="{FF2B5EF4-FFF2-40B4-BE49-F238E27FC236}">
                <a16:creationId xmlns:a16="http://schemas.microsoft.com/office/drawing/2014/main" id="{C9080536-C89F-4ACA-A8E8-9717A7BB0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81125"/>
            <a:ext cx="9239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19050">
            <a:solidFill>
              <a:srgbClr val="C71920"/>
            </a:solidFill>
            <a:prstDash val="solid"/>
          </a:ln>
        </p:spPr>
      </p:sp>
      <p:sp>
        <p:nvSpPr>
          <p:cNvPr id="9" name="effort">
            <a:extLst xmlns:a="http://schemas.openxmlformats.org/drawingml/2006/main">
              <a:ext uri="{FF2B5EF4-FFF2-40B4-BE49-F238E27FC236}">
                <a16:creationId xmlns:a16="http://schemas.microsoft.com/office/drawing/2014/main" id="{AFEAA8C6-2AE5-429E-9C0A-C18051BBE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0495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C71920"/>
                </a:solidFill>
              </a:defRPr>
            </a:pPr>
            <a:r>
              <a:rPr sz="2250" b="1">
                <a:solidFill>
                  <a:srgbClr val="C71920"/>
                </a:solidFill>
              </a:rPr>
              <a:t>Esfuerzo funcional (E) = PCUA × FC</a:t>
            </a:r>
          </a:p>
        </p:txBody>
      </p:sp>
      <p:graphicFrame>
        <p:nvGraphicFramePr>
          <p:cNvPr id="22" name=""/>
          <p:cNvGraphicFramePr/>
          <p:nvPr/>
        </p:nvGraphicFramePr>
        <p:xfrm>
          <a:off xmlns:a="http://schemas.openxmlformats.org/drawingml/2006/main" x="809625" y="2619375"/>
          <a:ext xmlns:a="http://schemas.openxmlformats.org/drawingml/2006/main" cx="8858250" cy="2190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619750"/>
                <a:gridCol w="3238500"/>
              </a:tblGrid>
              <a:tr h="547688">
                <a:tc>
                  <a:txBody>
                    <a:bodyPr/>
                    <a:lstStyle/>
                    <a:p>
                      <a:r>
                        <a:rPr sz="1650" b="1"/>
                        <a:t>Condición ambiental</a:t>
                      </a:r>
                    </a:p>
                  </a:txBody>
                  <a:tcPr marL="95250" marR="95250" marT="47625" marB="47625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/>
                        <a:t>Factor de conversión (FC)</a:t>
                      </a:r>
                    </a:p>
                  </a:txBody>
                  <a:tcPr marL="95250" marR="95250" marT="47625" marB="47625" anchor="ctr">
                    <a:solidFill>
                      <a:srgbClr val="F5F5F5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sz="1500"/>
                        <a:t>Riesgo controlado: ≤ 2 factores desfavorables</a:t>
                      </a:r>
                    </a:p>
                  </a:txBody>
                  <a:tcPr marL="95250" marR="95250" marT="38100" marB="38100" anchor="ctr"/>
                </a:tc>
                <a:tc>
                  <a:txBody>
                    <a:bodyPr/>
                    <a:lstStyle/>
                    <a:p>
                      <a:r>
                        <a:rPr sz="1500"/>
                        <a:t>20 H/H por PCUA</a:t>
                      </a:r>
                    </a:p>
                  </a:txBody>
                  <a:tcPr marL="95250" marR="95250" marT="38100" marB="38100" anchor="ctr"/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sz="1500"/>
                        <a:t>Riesgo medio: 3 o 4 factores desfavorables</a:t>
                      </a:r>
                    </a:p>
                  </a:txBody>
                  <a:tcPr marL="95250" marR="95250" marT="38100" marB="38100" anchor="ctr"/>
                </a:tc>
                <a:tc>
                  <a:txBody>
                    <a:bodyPr/>
                    <a:lstStyle/>
                    <a:p>
                      <a:r>
                        <a:rPr sz="1500"/>
                        <a:t>28 H/H por PCUA</a:t>
                      </a:r>
                    </a:p>
                  </a:txBody>
                  <a:tcPr marL="95250" marR="95250" marT="38100" marB="38100" anchor="ctr"/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sz="1500"/>
                        <a:t>Riesgo alto: ≥ 5 factores desfavorables</a:t>
                      </a:r>
                    </a:p>
                  </a:txBody>
                  <a:tcPr marL="95250" marR="95250" marT="38100" marB="38100" anchor="ctr"/>
                </a:tc>
                <a:tc>
                  <a:txBody>
                    <a:bodyPr/>
                    <a:lstStyle/>
                    <a:p>
                      <a:r>
                        <a:rPr sz="1500"/>
                        <a:t>Revisar el proyecto; existe posibilidad de fracaso</a:t>
                      </a:r>
                    </a:p>
                  </a:txBody>
                  <a:tcPr marL="95250" marR="95250" marT="38100" marB="38100" anchor="ctr"/>
                </a:tc>
              </a:tr>
            </a:tbl>
          </a:graphicData>
        </a:graphic>
      </p:graphicFrame>
      <p:sp>
        <p:nvSpPr>
          <p:cNvPr id="11" name="dot-545">
            <a:extLst xmlns:a="http://schemas.openxmlformats.org/drawingml/2006/main">
              <a:ext uri="{FF2B5EF4-FFF2-40B4-BE49-F238E27FC236}">
                <a16:creationId xmlns:a16="http://schemas.microsoft.com/office/drawing/2014/main" id="{613B27DF-855D-49AE-9FE3-28A361E0E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5191125"/>
            <a:ext cx="28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C71920"/>
                </a:solidFill>
              </a:defRPr>
            </a:pPr>
            <a:r>
              <a:rPr sz="2025" b="1">
                <a:solidFill>
                  <a:srgbClr val="C71920"/>
                </a:solidFill>
              </a:rPr>
              <a:t>⊙</a:t>
            </a:r>
          </a:p>
        </p:txBody>
      </p:sp>
      <p:sp>
        <p:nvSpPr>
          <p:cNvPr id="12" name="b-545">
            <a:extLst xmlns:a="http://schemas.openxmlformats.org/drawingml/2006/main">
              <a:ext uri="{FF2B5EF4-FFF2-40B4-BE49-F238E27FC236}">
                <a16:creationId xmlns:a16="http://schemas.microsoft.com/office/drawing/2014/main" id="{74B365E2-1C0A-4876-AB4F-F96D358DD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72075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51515"/>
                </a:solidFill>
              </a:defRPr>
            </a:pPr>
            <a:r>
              <a:rPr sz="1800" b="0">
                <a:solidFill>
                  <a:srgbClr val="151515"/>
                </a:solidFill>
              </a:rPr>
              <a:t>El esfuerzo PCU cubre la funcionalidad; después se agregan análisis, diseño, pruebas y otras actividades.</a:t>
            </a:r>
          </a:p>
        </p:txBody>
      </p:sp>
    </p:spTree>
    <p:extLst>
      <p:ext uri="{BB962C8B-B14F-4D97-AF65-F5344CB8AC3E}">
        <p14:creationId xmlns:p14="http://schemas.microsoft.com/office/powerpoint/2010/main" val="1007912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idebar">
            <a:extLst xmlns:a="http://schemas.openxmlformats.org/drawingml/2006/main">
              <a:ext uri="{FF2B5EF4-FFF2-40B4-BE49-F238E27FC236}">
                <a16:creationId xmlns:a16="http://schemas.microsoft.com/office/drawing/2014/main" id="{8E369277-7302-4A72-B292-369C8BC75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1219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10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accent">
            <a:extLst xmlns:a="http://schemas.openxmlformats.org/drawingml/2006/main">
              <a:ext uri="{FF2B5EF4-FFF2-40B4-BE49-F238E27FC236}">
                <a16:creationId xmlns:a16="http://schemas.microsoft.com/office/drawing/2014/main" id="{59E11866-47AE-4133-8D9A-E13BAF358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13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8E15351-69C0-48C1-9F0E-271BFD707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2860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C71920"/>
                </a:solidFill>
              </a:defRPr>
            </a:pPr>
            <a:r>
              <a:rPr sz="3000" b="1">
                <a:solidFill>
                  <a:srgbClr val="C71920"/>
                </a:solidFill>
              </a:rPr>
              <a:t>Distribución del Esfuerzo Total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2C3646F0-E202-409B-8A2C-2A448CF13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028700"/>
            <a:ext cx="10620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E15E7EBB-1E6B-4C21-981D-0D967152E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4389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1515"/>
                </a:solidFill>
              </a:defRPr>
            </a:pPr>
            <a:r>
              <a:rPr sz="1350" b="0">
                <a:solidFill>
                  <a:srgbClr val="151515"/>
                </a:solidFill>
              </a:rPr>
              <a:t>Planificación y Estimación · Organízate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E20EBDF7-15C2-47E7-A99D-2789B4709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389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51515"/>
                </a:solidFill>
              </a:defRPr>
            </a:pPr>
            <a:r>
              <a:rPr sz="1350" b="0">
                <a:solidFill>
                  <a:srgbClr val="151515"/>
                </a:solidFill>
              </a:rPr>
              <a:t>7</a:t>
            </a:r>
          </a:p>
        </p:txBody>
      </p:sp>
      <p:sp>
        <p:nvSpPr>
          <p:cNvPr id="7" name="side-page">
            <a:extLst xmlns:a="http://schemas.openxmlformats.org/drawingml/2006/main">
              <a:ext uri="{FF2B5EF4-FFF2-40B4-BE49-F238E27FC236}">
                <a16:creationId xmlns:a16="http://schemas.microsoft.com/office/drawing/2014/main" id="{2AE425E5-18A4-46FC-8829-7ED3D8332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7 de 9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381000" y="1524000"/>
          <a:ext xmlns:a="http://schemas.openxmlformats.org/drawingml/2006/main" cx="10239375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1619250"/>
                <a:gridCol w="6238875"/>
              </a:tblGrid>
              <a:tr h="579438">
                <a:tc>
                  <a:txBody>
                    <a:bodyPr/>
                    <a:lstStyle/>
                    <a:p>
                      <a:r>
                        <a:rPr sz="1575" b="1"/>
                        <a:t>Actividad</a:t>
                      </a:r>
                    </a:p>
                  </a:txBody>
                  <a:tcPr marL="95250" marR="95250" marT="47625" marB="47625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/>
                        <a:t>Porcentaje</a:t>
                      </a:r>
                    </a:p>
                  </a:txBody>
                  <a:tcPr marL="95250" marR="95250" marT="47625" marB="47625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/>
                        <a:t>Aplicación en Organízate</a:t>
                      </a:r>
                    </a:p>
                  </a:txBody>
                  <a:tcPr marL="95250" marR="95250" marT="47625" marB="47625" anchor="ctr">
                    <a:solidFill>
                      <a:srgbClr val="F5F5F5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425"/>
                        <a:t>Análisis</a:t>
                      </a:r>
                    </a:p>
                  </a:txBody>
                  <a:tcPr marL="95250" marR="95250" marT="38100" marB="38100" anchor="ctr"/>
                </a:tc>
                <a:tc>
                  <a:txBody>
                    <a:bodyPr/>
                    <a:lstStyle/>
                    <a:p>
                      <a:r>
                        <a:rPr sz="1425"/>
                        <a:t>10 %</a:t>
                      </a:r>
                    </a:p>
                  </a:txBody>
                  <a:tcPr marL="95250" marR="95250" marT="38100" marB="38100" anchor="ctr"/>
                </a:tc>
                <a:tc>
                  <a:txBody>
                    <a:bodyPr/>
                    <a:lstStyle/>
                    <a:p>
                      <a:r>
                        <a:rPr sz="1425"/>
                        <a:t>Requisitos, roles, reglas y criterios de aceptación</a:t>
                      </a:r>
                    </a:p>
                  </a:txBody>
                  <a:tcPr marL="95250" marR="95250" marT="38100" marB="38100" anchor="ctr"/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425"/>
                        <a:t>Diseño</a:t>
                      </a:r>
                    </a:p>
                  </a:txBody>
                  <a:tcPr marL="95250" marR="95250" marT="38100" marB="38100" anchor="ctr"/>
                </a:tc>
                <a:tc>
                  <a:txBody>
                    <a:bodyPr/>
                    <a:lstStyle/>
                    <a:p>
                      <a:r>
                        <a:rPr sz="1425"/>
                        <a:t>20 %</a:t>
                      </a:r>
                    </a:p>
                  </a:txBody>
                  <a:tcPr marL="95250" marR="95250" marT="38100" marB="38100" anchor="ctr"/>
                </a:tc>
                <a:tc>
                  <a:txBody>
                    <a:bodyPr/>
                    <a:lstStyle/>
                    <a:p>
                      <a:r>
                        <a:rPr sz="1425"/>
                        <a:t>Arquitectura, datos, API, seguridad, UX/UI</a:t>
                      </a:r>
                    </a:p>
                  </a:txBody>
                  <a:tcPr marL="95250" marR="95250" marT="38100" marB="38100" anchor="ctr"/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425"/>
                        <a:t>Implementación</a:t>
                      </a:r>
                    </a:p>
                  </a:txBody>
                  <a:tcPr marL="95250" marR="95250" marT="38100" marB="38100" anchor="ctr"/>
                </a:tc>
                <a:tc>
                  <a:txBody>
                    <a:bodyPr/>
                    <a:lstStyle/>
                    <a:p>
                      <a:r>
                        <a:rPr sz="1425"/>
                        <a:t>40 %</a:t>
                      </a:r>
                    </a:p>
                  </a:txBody>
                  <a:tcPr marL="95250" marR="95250" marT="38100" marB="38100" anchor="ctr"/>
                </a:tc>
                <a:tc>
                  <a:txBody>
                    <a:bodyPr/>
                    <a:lstStyle/>
                    <a:p>
                      <a:r>
                        <a:rPr sz="1425"/>
                        <a:t>Frontend, Laravel, PostgreSQL e integración</a:t>
                      </a:r>
                    </a:p>
                  </a:txBody>
                  <a:tcPr marL="95250" marR="95250" marT="38100" marB="38100" anchor="ctr"/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425"/>
                        <a:t>Pruebas</a:t>
                      </a:r>
                    </a:p>
                  </a:txBody>
                  <a:tcPr marL="95250" marR="95250" marT="38100" marB="38100" anchor="ctr"/>
                </a:tc>
                <a:tc>
                  <a:txBody>
                    <a:bodyPr/>
                    <a:lstStyle/>
                    <a:p>
                      <a:r>
                        <a:rPr sz="1425"/>
                        <a:t>15 %</a:t>
                      </a:r>
                    </a:p>
                  </a:txBody>
                  <a:tcPr marL="95250" marR="95250" marT="38100" marB="38100" anchor="ctr"/>
                </a:tc>
                <a:tc>
                  <a:txBody>
                    <a:bodyPr/>
                    <a:lstStyle/>
                    <a:p>
                      <a:r>
                        <a:rPr sz="1425"/>
                        <a:t>Unitarias, DOM, endpoints, flujos y regresión</a:t>
                      </a:r>
                    </a:p>
                  </a:txBody>
                  <a:tcPr marL="95250" marR="95250" marT="38100" marB="38100" anchor="ctr"/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425"/>
                        <a:t>Otras actividades</a:t>
                      </a:r>
                    </a:p>
                  </a:txBody>
                  <a:tcPr marL="95250" marR="95250" marT="38100" marB="38100" anchor="ctr"/>
                </a:tc>
                <a:tc>
                  <a:txBody>
                    <a:bodyPr/>
                    <a:lstStyle/>
                    <a:p>
                      <a:r>
                        <a:rPr sz="1425"/>
                        <a:t>15 %</a:t>
                      </a:r>
                    </a:p>
                  </a:txBody>
                  <a:tcPr marL="95250" marR="95250" marT="38100" marB="38100" anchor="ctr"/>
                </a:tc>
                <a:tc>
                  <a:txBody>
                    <a:bodyPr/>
                    <a:lstStyle/>
                    <a:p>
                      <a:r>
                        <a:rPr sz="1425"/>
                        <a:t>Gestión, documentación, despliegue y coordinación</a:t>
                      </a:r>
                    </a:p>
                  </a:txBody>
                  <a:tcPr marL="95250" marR="95250" marT="38100" marB="38100" anchor="ctr"/>
                </a:tc>
              </a:tr>
            </a:tbl>
          </a:graphicData>
        </a:graphic>
      </p:graphicFrame>
      <p:sp>
        <p:nvSpPr>
          <p:cNvPr id="9" name="relation">
            <a:extLst xmlns:a="http://schemas.openxmlformats.org/drawingml/2006/main">
              <a:ext uri="{FF2B5EF4-FFF2-40B4-BE49-F238E27FC236}">
                <a16:creationId xmlns:a16="http://schemas.microsoft.com/office/drawing/2014/main" id="{E8AA7FC5-7E52-4475-A14B-EA53A64AD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334000"/>
            <a:ext cx="876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19050">
            <a:solidFill>
              <a:srgbClr val="C71920"/>
            </a:solidFill>
            <a:prstDash val="solid"/>
          </a:ln>
        </p:spPr>
      </p:sp>
      <p:sp>
        <p:nvSpPr>
          <p:cNvPr id="10" name="relation-text">
            <a:extLst xmlns:a="http://schemas.openxmlformats.org/drawingml/2006/main">
              <a:ext uri="{FF2B5EF4-FFF2-40B4-BE49-F238E27FC236}">
                <a16:creationId xmlns:a16="http://schemas.microsoft.com/office/drawing/2014/main" id="{5FE6E0F1-A73C-43EF-9655-0EC44746D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429250"/>
            <a:ext cx="838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C71920"/>
                </a:solidFill>
              </a:defRPr>
            </a:pPr>
            <a:r>
              <a:rPr sz="1725" b="1">
                <a:solidFill>
                  <a:srgbClr val="C71920"/>
                </a:solidFill>
              </a:rPr>
              <a:t>Si implementación = 40 %, entonces esfuerzo total = esfuerzo de implementación ÷ 0.40</a:t>
            </a:r>
          </a:p>
        </p:txBody>
      </p:sp>
    </p:spTree>
    <p:extLst>
      <p:ext uri="{BB962C8B-B14F-4D97-AF65-F5344CB8AC3E}">
        <p14:creationId xmlns:p14="http://schemas.microsoft.com/office/powerpoint/2010/main" val="133557660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idebar">
            <a:extLst xmlns:a="http://schemas.openxmlformats.org/drawingml/2006/main">
              <a:ext uri="{FF2B5EF4-FFF2-40B4-BE49-F238E27FC236}">
                <a16:creationId xmlns:a16="http://schemas.microsoft.com/office/drawing/2014/main" id="{55D672F0-DF81-4863-837A-FC9B5A5D8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1219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10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accent">
            <a:extLst xmlns:a="http://schemas.openxmlformats.org/drawingml/2006/main">
              <a:ext uri="{FF2B5EF4-FFF2-40B4-BE49-F238E27FC236}">
                <a16:creationId xmlns:a16="http://schemas.microsoft.com/office/drawing/2014/main" id="{97A2A9AE-C977-457D-B18A-0BEAF6A4E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13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4548CAE-9618-4737-B1C3-CB873C5FC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2860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C71920"/>
                </a:solidFill>
              </a:defRPr>
            </a:pPr>
            <a:r>
              <a:rPr sz="3000" b="1">
                <a:solidFill>
                  <a:srgbClr val="C71920"/>
                </a:solidFill>
              </a:rPr>
              <a:t>Tiempo, Personas y Costo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CF4D70E0-187E-4A1B-831F-C76B3429B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028700"/>
            <a:ext cx="10620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5CFA5003-FE20-423D-AAC1-7541E0D2E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4389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1515"/>
                </a:solidFill>
              </a:defRPr>
            </a:pPr>
            <a:r>
              <a:rPr sz="1350" b="0">
                <a:solidFill>
                  <a:srgbClr val="151515"/>
                </a:solidFill>
              </a:rPr>
              <a:t>Planificación y Estimación · Organízate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6C9CDAF6-5F16-4A90-B175-B3FD32682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389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51515"/>
                </a:solidFill>
              </a:defRPr>
            </a:pPr>
            <a:r>
              <a:rPr sz="1350" b="0">
                <a:solidFill>
                  <a:srgbClr val="151515"/>
                </a:solidFill>
              </a:rPr>
              <a:t>8</a:t>
            </a:r>
          </a:p>
        </p:txBody>
      </p:sp>
      <p:sp>
        <p:nvSpPr>
          <p:cNvPr id="7" name="side-page">
            <a:extLst xmlns:a="http://schemas.openxmlformats.org/drawingml/2006/main">
              <a:ext uri="{FF2B5EF4-FFF2-40B4-BE49-F238E27FC236}">
                <a16:creationId xmlns:a16="http://schemas.microsoft.com/office/drawing/2014/main" id="{61F97A71-BA38-4973-8B21-243B9DCF6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8 de 9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571500" y="1428750"/>
          <a:ext xmlns:a="http://schemas.openxmlformats.org/drawingml/2006/main" cx="9715500" cy="3190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81375"/>
                <a:gridCol w="6334125"/>
              </a:tblGrid>
              <a:tr h="531813">
                <a:tc>
                  <a:txBody>
                    <a:bodyPr/>
                    <a:lstStyle/>
                    <a:p>
                      <a:r>
                        <a:rPr sz="1725" b="1"/>
                        <a:t>Indicador</a:t>
                      </a:r>
                    </a:p>
                  </a:txBody>
                  <a:tcPr marL="95250" marR="95250" marT="47625" marB="47625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/>
                        <a:t>Cálculo</a:t>
                      </a:r>
                    </a:p>
                  </a:txBody>
                  <a:tcPr marL="95250" marR="95250" marT="47625" marB="47625" anchor="ctr">
                    <a:solidFill>
                      <a:srgbClr val="F5F5F5"/>
                    </a:solidFill>
                  </a:tcPr>
                </a:tc>
              </a:tr>
              <a:tr h="531813">
                <a:tc>
                  <a:txBody>
                    <a:bodyPr/>
                    <a:lstStyle/>
                    <a:p>
                      <a:r>
                        <a:rPr sz="1575"/>
                        <a:t>Tiempo de desarrollo</a:t>
                      </a:r>
                    </a:p>
                  </a:txBody>
                  <a:tcPr marL="95250" marR="95250" marT="38100" marB="38100" anchor="ctr"/>
                </a:tc>
                <a:tc>
                  <a:txBody>
                    <a:bodyPr/>
                    <a:lstStyle/>
                    <a:p>
                      <a:r>
                        <a:rPr sz="1575"/>
                        <a:t>TDES = esfuerzo total ÷ cantidad de personas</a:t>
                      </a:r>
                    </a:p>
                  </a:txBody>
                  <a:tcPr marL="95250" marR="95250" marT="38100" marB="38100" anchor="ctr"/>
                </a:tc>
              </a:tr>
              <a:tr h="531813">
                <a:tc>
                  <a:txBody>
                    <a:bodyPr/>
                    <a:lstStyle/>
                    <a:p>
                      <a:r>
                        <a:rPr sz="1575"/>
                        <a:t>Tarifa horaria promedio</a:t>
                      </a:r>
                    </a:p>
                  </a:txBody>
                  <a:tcPr marL="95250" marR="95250" marT="38100" marB="38100" anchor="ctr"/>
                </a:tc>
                <a:tc>
                  <a:txBody>
                    <a:bodyPr/>
                    <a:lstStyle/>
                    <a:p>
                      <a:r>
                        <a:rPr sz="1575"/>
                        <a:t>THP = salario promedio mensual ÷ 160</a:t>
                      </a:r>
                    </a:p>
                  </a:txBody>
                  <a:tcPr marL="95250" marR="95250" marT="38100" marB="38100" anchor="ctr"/>
                </a:tc>
              </a:tr>
              <a:tr h="531813">
                <a:tc>
                  <a:txBody>
                    <a:bodyPr/>
                    <a:lstStyle/>
                    <a:p>
                      <a:r>
                        <a:rPr sz="1575"/>
                        <a:t>Costo por H/H</a:t>
                      </a:r>
                    </a:p>
                  </a:txBody>
                  <a:tcPr marL="95250" marR="95250" marT="38100" marB="38100" anchor="ctr"/>
                </a:tc>
                <a:tc>
                  <a:txBody>
                    <a:bodyPr/>
                    <a:lstStyle/>
                    <a:p>
                      <a:r>
                        <a:rPr sz="1575"/>
                        <a:t>C = esfuerzo total en H/H × K × THP</a:t>
                      </a:r>
                    </a:p>
                  </a:txBody>
                  <a:tcPr marL="95250" marR="95250" marT="38100" marB="38100" anchor="ctr"/>
                </a:tc>
              </a:tr>
              <a:tr h="531813">
                <a:tc>
                  <a:txBody>
                    <a:bodyPr/>
                    <a:lstStyle/>
                    <a:p>
                      <a:r>
                        <a:rPr sz="1575"/>
                        <a:t>Costo por H/M</a:t>
                      </a:r>
                    </a:p>
                  </a:txBody>
                  <a:tcPr marL="95250" marR="95250" marT="38100" marB="38100" anchor="ctr"/>
                </a:tc>
                <a:tc>
                  <a:txBody>
                    <a:bodyPr/>
                    <a:lstStyle/>
                    <a:p>
                      <a:r>
                        <a:rPr sz="1575"/>
                        <a:t>C = esfuerzo total en H/M × K × salario promedio mensual</a:t>
                      </a:r>
                    </a:p>
                  </a:txBody>
                  <a:tcPr marL="95250" marR="95250" marT="38100" marB="38100" anchor="ctr"/>
                </a:tc>
              </a:tr>
              <a:tr h="531813">
                <a:tc>
                  <a:txBody>
                    <a:bodyPr/>
                    <a:lstStyle/>
                    <a:p>
                      <a:r>
                        <a:rPr sz="1575"/>
                        <a:t>Costos indirectos</a:t>
                      </a:r>
                    </a:p>
                  </a:txBody>
                  <a:tcPr marL="95250" marR="95250" marT="38100" marB="38100" anchor="ctr"/>
                </a:tc>
                <a:tc>
                  <a:txBody>
                    <a:bodyPr/>
                    <a:lstStyle/>
                    <a:p>
                      <a:r>
                        <a:rPr sz="1575"/>
                        <a:t>K entre 1.5 y 2.0, según la referencia</a:t>
                      </a:r>
                    </a:p>
                  </a:txBody>
                  <a:tcPr marL="95250" marR="95250" marT="38100" marB="38100" anchor="ctr"/>
                </a:tc>
              </a:tr>
            </a:tbl>
          </a:graphicData>
        </a:graphic>
      </p:graphicFrame>
      <p:sp>
        <p:nvSpPr>
          <p:cNvPr id="9" name="dot-525">
            <a:extLst xmlns:a="http://schemas.openxmlformats.org/drawingml/2006/main">
              <a:ext uri="{FF2B5EF4-FFF2-40B4-BE49-F238E27FC236}">
                <a16:creationId xmlns:a16="http://schemas.microsoft.com/office/drawing/2014/main" id="{DA759C02-1E0F-4684-AA5A-4E01F1399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5000625"/>
            <a:ext cx="28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C71920"/>
                </a:solidFill>
              </a:defRPr>
            </a:pPr>
            <a:r>
              <a:rPr sz="1950" b="1">
                <a:solidFill>
                  <a:srgbClr val="C71920"/>
                </a:solidFill>
              </a:rPr>
              <a:t>⊙</a:t>
            </a:r>
          </a:p>
        </p:txBody>
      </p:sp>
      <p:sp>
        <p:nvSpPr>
          <p:cNvPr id="10" name="b-525">
            <a:extLst xmlns:a="http://schemas.openxmlformats.org/drawingml/2006/main">
              <a:ext uri="{FF2B5EF4-FFF2-40B4-BE49-F238E27FC236}">
                <a16:creationId xmlns:a16="http://schemas.microsoft.com/office/drawing/2014/main" id="{94D63E8E-FE05-41BF-A1FA-8A6A3D7ED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81575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51515"/>
                </a:solidFill>
              </a:defRPr>
            </a:pPr>
            <a:r>
              <a:rPr sz="1725" b="0">
                <a:solidFill>
                  <a:srgbClr val="151515"/>
                </a:solidFill>
              </a:rPr>
              <a:t>Agregar infraestructura, licencias, equipos, servidor, dominio, respaldos, energía, capacitación e impuestos.</a:t>
            </a:r>
          </a:p>
        </p:txBody>
      </p:sp>
      <p:sp>
        <p:nvSpPr>
          <p:cNvPr id="11" name="dot-590">
            <a:extLst xmlns:a="http://schemas.openxmlformats.org/drawingml/2006/main">
              <a:ext uri="{FF2B5EF4-FFF2-40B4-BE49-F238E27FC236}">
                <a16:creationId xmlns:a16="http://schemas.microsoft.com/office/drawing/2014/main" id="{C96003CD-F465-4ED4-986C-5D61A4F7C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5619750"/>
            <a:ext cx="28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C71920"/>
                </a:solidFill>
              </a:defRPr>
            </a:pPr>
            <a:r>
              <a:rPr sz="1950" b="1">
                <a:solidFill>
                  <a:srgbClr val="C71920"/>
                </a:solidFill>
              </a:rPr>
              <a:t>⊙</a:t>
            </a:r>
          </a:p>
        </p:txBody>
      </p:sp>
      <p:sp>
        <p:nvSpPr>
          <p:cNvPr id="12" name="b-590">
            <a:extLst xmlns:a="http://schemas.openxmlformats.org/drawingml/2006/main">
              <a:ext uri="{FF2B5EF4-FFF2-40B4-BE49-F238E27FC236}">
                <a16:creationId xmlns:a16="http://schemas.microsoft.com/office/drawing/2014/main" id="{FC2A7CD0-09F0-44D6-ADDF-280A0EBFC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0070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51515"/>
                </a:solidFill>
              </a:defRPr>
            </a:pPr>
            <a:r>
              <a:rPr sz="1725" b="0">
                <a:solidFill>
                  <a:srgbClr val="151515"/>
                </a:solidFill>
              </a:rPr>
              <a:t>Agregar contingencia por cambios de alcance, retrasos, seguridad, fallos técnicos y retrabajo.</a:t>
            </a:r>
          </a:p>
        </p:txBody>
      </p:sp>
    </p:spTree>
    <p:extLst>
      <p:ext uri="{BB962C8B-B14F-4D97-AF65-F5344CB8AC3E}">
        <p14:creationId xmlns:p14="http://schemas.microsoft.com/office/powerpoint/2010/main" val="200029324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idebar">
            <a:extLst xmlns:a="http://schemas.openxmlformats.org/drawingml/2006/main">
              <a:ext uri="{FF2B5EF4-FFF2-40B4-BE49-F238E27FC236}">
                <a16:creationId xmlns:a16="http://schemas.microsoft.com/office/drawing/2014/main" id="{E218FB5B-5CE2-41CF-A25E-A425A29D9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1219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10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accent">
            <a:extLst xmlns:a="http://schemas.openxmlformats.org/drawingml/2006/main">
              <a:ext uri="{FF2B5EF4-FFF2-40B4-BE49-F238E27FC236}">
                <a16:creationId xmlns:a16="http://schemas.microsoft.com/office/drawing/2014/main" id="{6A9CADAA-628C-41DE-9925-726B2A5E4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13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4425F3F-E7D9-42C3-BF5E-047904644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2860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C71920"/>
                </a:solidFill>
              </a:defRPr>
            </a:pPr>
            <a:r>
              <a:rPr sz="3000" b="1">
                <a:solidFill>
                  <a:srgbClr val="C71920"/>
                </a:solidFill>
              </a:rPr>
              <a:t>Esquema Final del Presupuesto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AA7566DA-E976-4385-BD8B-20ACFD702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028700"/>
            <a:ext cx="10620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B42DE906-CC04-4017-BD89-E5892CCB0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4389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1515"/>
                </a:solidFill>
              </a:defRPr>
            </a:pPr>
            <a:r>
              <a:rPr sz="1350" b="0">
                <a:solidFill>
                  <a:srgbClr val="151515"/>
                </a:solidFill>
              </a:rPr>
              <a:t>Planificación y Estimación · Organízate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2EB0BA2E-33DE-4A34-90CA-9E6E4D595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389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51515"/>
                </a:solidFill>
              </a:defRPr>
            </a:pPr>
            <a:r>
              <a:rPr sz="1350" b="0">
                <a:solidFill>
                  <a:srgbClr val="151515"/>
                </a:solidFill>
              </a:rPr>
              <a:t>9</a:t>
            </a:r>
          </a:p>
        </p:txBody>
      </p:sp>
      <p:sp>
        <p:nvSpPr>
          <p:cNvPr id="7" name="side-page">
            <a:extLst xmlns:a="http://schemas.openxmlformats.org/drawingml/2006/main">
              <a:ext uri="{FF2B5EF4-FFF2-40B4-BE49-F238E27FC236}">
                <a16:creationId xmlns:a16="http://schemas.microsoft.com/office/drawing/2014/main" id="{A6770015-E0A7-4F6F-8C94-2B90BE152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9 de 9</a:t>
            </a:r>
          </a:p>
        </p:txBody>
      </p:sp>
      <p:sp>
        <p:nvSpPr>
          <p:cNvPr id="8" name="lh-0">
            <a:extLst xmlns:a="http://schemas.openxmlformats.org/drawingml/2006/main">
              <a:ext uri="{FF2B5EF4-FFF2-40B4-BE49-F238E27FC236}">
                <a16:creationId xmlns:a16="http://schemas.microsoft.com/office/drawing/2014/main" id="{294C2CCC-E56E-492B-9578-2EBA7DCEB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81125"/>
            <a:ext cx="2143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71920"/>
                </a:solidFill>
              </a:defRPr>
            </a:pPr>
            <a:r>
              <a:rPr sz="1800" b="1">
                <a:solidFill>
                  <a:srgbClr val="C71920"/>
                </a:solidFill>
              </a:rPr>
              <a:t>Diseño</a:t>
            </a:r>
          </a:p>
        </p:txBody>
      </p:sp>
      <p:sp>
        <p:nvSpPr>
          <p:cNvPr id="9" name="lb-0">
            <a:extLst xmlns:a="http://schemas.openxmlformats.org/drawingml/2006/main">
              <a:ext uri="{FF2B5EF4-FFF2-40B4-BE49-F238E27FC236}">
                <a16:creationId xmlns:a16="http://schemas.microsoft.com/office/drawing/2014/main" id="{617D83FB-7295-41DE-A68B-1F0F9F3B5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381125"/>
            <a:ext cx="7381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51515"/>
                </a:solidFill>
              </a:defRPr>
            </a:pPr>
            <a:r>
              <a:rPr sz="1650" b="0">
                <a:solidFill>
                  <a:srgbClr val="151515"/>
                </a:solidFill>
              </a:rPr>
              <a:t>Análisis + arquitectura + base de datos + UX/UI + documentación</a:t>
            </a:r>
          </a:p>
        </p:txBody>
      </p:sp>
      <p:sp>
        <p:nvSpPr>
          <p:cNvPr id="10" name="lr-0">
            <a:extLst xmlns:a="http://schemas.openxmlformats.org/drawingml/2006/main">
              <a:ext uri="{FF2B5EF4-FFF2-40B4-BE49-F238E27FC236}">
                <a16:creationId xmlns:a16="http://schemas.microsoft.com/office/drawing/2014/main" id="{F2F3D2FE-0385-4908-BEE5-50F34FEE0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95475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8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lh-1">
            <a:extLst xmlns:a="http://schemas.openxmlformats.org/drawingml/2006/main">
              <a:ext uri="{FF2B5EF4-FFF2-40B4-BE49-F238E27FC236}">
                <a16:creationId xmlns:a16="http://schemas.microsoft.com/office/drawing/2014/main" id="{2DD5C5A8-3859-4CF2-BCF0-A89E28C98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05025"/>
            <a:ext cx="2143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71920"/>
                </a:solidFill>
              </a:defRPr>
            </a:pPr>
            <a:r>
              <a:rPr sz="1800" b="1">
                <a:solidFill>
                  <a:srgbClr val="C71920"/>
                </a:solidFill>
              </a:rPr>
              <a:t>Implementación</a:t>
            </a:r>
          </a:p>
        </p:txBody>
      </p:sp>
      <p:sp>
        <p:nvSpPr>
          <p:cNvPr id="12" name="lb-1">
            <a:extLst xmlns:a="http://schemas.openxmlformats.org/drawingml/2006/main">
              <a:ext uri="{FF2B5EF4-FFF2-40B4-BE49-F238E27FC236}">
                <a16:creationId xmlns:a16="http://schemas.microsoft.com/office/drawing/2014/main" id="{9558E3C5-29E3-41D8-BE19-8713FC013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05025"/>
            <a:ext cx="7381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51515"/>
                </a:solidFill>
              </a:defRPr>
            </a:pPr>
            <a:r>
              <a:rPr sz="1650" b="0">
                <a:solidFill>
                  <a:srgbClr val="151515"/>
                </a:solidFill>
              </a:rPr>
              <a:t>Frontend + backend + datos + autenticación + integración</a:t>
            </a:r>
          </a:p>
        </p:txBody>
      </p:sp>
      <p:sp>
        <p:nvSpPr>
          <p:cNvPr id="13" name="lr-1">
            <a:extLst xmlns:a="http://schemas.openxmlformats.org/drawingml/2006/main">
              <a:ext uri="{FF2B5EF4-FFF2-40B4-BE49-F238E27FC236}">
                <a16:creationId xmlns:a16="http://schemas.microsoft.com/office/drawing/2014/main" id="{DCAE5C90-1FC2-4E87-B407-AE46E1D26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19375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8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lh-2">
            <a:extLst xmlns:a="http://schemas.openxmlformats.org/drawingml/2006/main">
              <a:ext uri="{FF2B5EF4-FFF2-40B4-BE49-F238E27FC236}">
                <a16:creationId xmlns:a16="http://schemas.microsoft.com/office/drawing/2014/main" id="{73A0F14B-410D-4B63-AE20-89C5B4B4A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28925"/>
            <a:ext cx="2143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71920"/>
                </a:solidFill>
              </a:defRPr>
            </a:pPr>
            <a:r>
              <a:rPr sz="1800" b="1">
                <a:solidFill>
                  <a:srgbClr val="C71920"/>
                </a:solidFill>
              </a:rPr>
              <a:t>Calidad</a:t>
            </a:r>
          </a:p>
        </p:txBody>
      </p:sp>
      <p:sp>
        <p:nvSpPr>
          <p:cNvPr id="15" name="lb-2">
            <a:extLst xmlns:a="http://schemas.openxmlformats.org/drawingml/2006/main">
              <a:ext uri="{FF2B5EF4-FFF2-40B4-BE49-F238E27FC236}">
                <a16:creationId xmlns:a16="http://schemas.microsoft.com/office/drawing/2014/main" id="{EE1DF702-837A-4C0D-B3BB-30E67407A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28925"/>
            <a:ext cx="7381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51515"/>
                </a:solidFill>
              </a:defRPr>
            </a:pPr>
            <a:r>
              <a:rPr sz="1650" b="0">
                <a:solidFill>
                  <a:srgbClr val="151515"/>
                </a:solidFill>
              </a:rPr>
              <a:t>Pruebas + correcciones + revisión + retrabajo</a:t>
            </a:r>
          </a:p>
        </p:txBody>
      </p:sp>
      <p:sp>
        <p:nvSpPr>
          <p:cNvPr id="16" name="lr-2">
            <a:extLst xmlns:a="http://schemas.openxmlformats.org/drawingml/2006/main">
              <a:ext uri="{FF2B5EF4-FFF2-40B4-BE49-F238E27FC236}">
                <a16:creationId xmlns:a16="http://schemas.microsoft.com/office/drawing/2014/main" id="{21736E01-D065-4C64-82D4-5589E6782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43275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8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lh-3">
            <a:extLst xmlns:a="http://schemas.openxmlformats.org/drawingml/2006/main">
              <a:ext uri="{FF2B5EF4-FFF2-40B4-BE49-F238E27FC236}">
                <a16:creationId xmlns:a16="http://schemas.microsoft.com/office/drawing/2014/main" id="{45E53ACF-24FA-42E0-A3CB-2624A3016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52825"/>
            <a:ext cx="2143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71920"/>
                </a:solidFill>
              </a:defRPr>
            </a:pPr>
            <a:r>
              <a:rPr sz="1800" b="1">
                <a:solidFill>
                  <a:srgbClr val="C71920"/>
                </a:solidFill>
              </a:rPr>
              <a:t>Entrega</a:t>
            </a:r>
          </a:p>
        </p:txBody>
      </p:sp>
      <p:sp>
        <p:nvSpPr>
          <p:cNvPr id="18" name="lb-3">
            <a:extLst xmlns:a="http://schemas.openxmlformats.org/drawingml/2006/main">
              <a:ext uri="{FF2B5EF4-FFF2-40B4-BE49-F238E27FC236}">
                <a16:creationId xmlns:a16="http://schemas.microsoft.com/office/drawing/2014/main" id="{046A06AB-139F-4C94-9295-C1C88980B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552825"/>
            <a:ext cx="7381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51515"/>
                </a:solidFill>
              </a:defRPr>
            </a:pPr>
            <a:r>
              <a:rPr sz="1650" b="0">
                <a:solidFill>
                  <a:srgbClr val="151515"/>
                </a:solidFill>
              </a:rPr>
              <a:t>Docker/servidor + configuración + migración + manuales + capacitación</a:t>
            </a:r>
          </a:p>
        </p:txBody>
      </p:sp>
      <p:sp>
        <p:nvSpPr>
          <p:cNvPr id="19" name="lr-3">
            <a:extLst xmlns:a="http://schemas.openxmlformats.org/drawingml/2006/main">
              <a:ext uri="{FF2B5EF4-FFF2-40B4-BE49-F238E27FC236}">
                <a16:creationId xmlns:a16="http://schemas.microsoft.com/office/drawing/2014/main" id="{B78A2A46-AF7E-47B9-97A7-2925273DC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67175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8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lh-4">
            <a:extLst xmlns:a="http://schemas.openxmlformats.org/drawingml/2006/main">
              <a:ext uri="{FF2B5EF4-FFF2-40B4-BE49-F238E27FC236}">
                <a16:creationId xmlns:a16="http://schemas.microsoft.com/office/drawing/2014/main" id="{19BFDBEF-AEAA-47EB-B84E-B6A227215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76725"/>
            <a:ext cx="2143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71920"/>
                </a:solidFill>
              </a:defRPr>
            </a:pPr>
            <a:r>
              <a:rPr sz="1800" b="1">
                <a:solidFill>
                  <a:srgbClr val="C71920"/>
                </a:solidFill>
              </a:rPr>
              <a:t>Ciclo de vida</a:t>
            </a:r>
          </a:p>
        </p:txBody>
      </p:sp>
      <p:sp>
        <p:nvSpPr>
          <p:cNvPr id="21" name="lb-4">
            <a:extLst xmlns:a="http://schemas.openxmlformats.org/drawingml/2006/main">
              <a:ext uri="{FF2B5EF4-FFF2-40B4-BE49-F238E27FC236}">
                <a16:creationId xmlns:a16="http://schemas.microsoft.com/office/drawing/2014/main" id="{00FE618F-80BB-4B40-9065-D8F936B51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76725"/>
            <a:ext cx="7381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51515"/>
                </a:solidFill>
              </a:defRPr>
            </a:pPr>
            <a:r>
              <a:rPr sz="1650" b="0">
                <a:solidFill>
                  <a:srgbClr val="151515"/>
                </a:solidFill>
              </a:rPr>
              <a:t>Soporte + mantenimiento correctivo, adaptativo y evolutivo</a:t>
            </a:r>
          </a:p>
        </p:txBody>
      </p:sp>
      <p:sp>
        <p:nvSpPr>
          <p:cNvPr id="22" name="lr-4">
            <a:extLst xmlns:a="http://schemas.openxmlformats.org/drawingml/2006/main">
              <a:ext uri="{FF2B5EF4-FFF2-40B4-BE49-F238E27FC236}">
                <a16:creationId xmlns:a16="http://schemas.microsoft.com/office/drawing/2014/main" id="{62988AB3-6AD5-4B59-BCC6-974A66C23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91075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8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otal">
            <a:extLst xmlns:a="http://schemas.openxmlformats.org/drawingml/2006/main">
              <a:ext uri="{FF2B5EF4-FFF2-40B4-BE49-F238E27FC236}">
                <a16:creationId xmlns:a16="http://schemas.microsoft.com/office/drawing/2014/main" id="{9DD9765C-810F-478C-AF2C-C657299E2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86375"/>
            <a:ext cx="9620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19050">
            <a:solidFill>
              <a:srgbClr val="C71920"/>
            </a:solidFill>
            <a:prstDash val="solid"/>
          </a:ln>
        </p:spPr>
      </p:sp>
      <p:sp>
        <p:nvSpPr>
          <p:cNvPr id="24" name="total-text">
            <a:extLst xmlns:a="http://schemas.openxmlformats.org/drawingml/2006/main">
              <a:ext uri="{FF2B5EF4-FFF2-40B4-BE49-F238E27FC236}">
                <a16:creationId xmlns:a16="http://schemas.microsoft.com/office/drawing/2014/main" id="{B2C2DBFF-D3A8-49BB-A505-F81FE58F7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00675"/>
            <a:ext cx="914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C71920"/>
                </a:solidFill>
              </a:defRPr>
            </a:pPr>
            <a:r>
              <a:rPr sz="1875" b="1">
                <a:solidFill>
                  <a:srgbClr val="C71920"/>
                </a:solidFill>
              </a:rPr>
              <a:t>Costo total = costos directos + indirectos + contingencia + operación y mantenimiento</a:t>
            </a:r>
          </a:p>
        </p:txBody>
      </p:sp>
    </p:spTree>
    <p:extLst>
      <p:ext uri="{BB962C8B-B14F-4D97-AF65-F5344CB8AC3E}">
        <p14:creationId xmlns:p14="http://schemas.microsoft.com/office/powerpoint/2010/main" val="15729307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2026-07-25T02:20:33.8400000Z</dcterms:created>
  <dcterms:modified xsi:type="dcterms:W3CDTF">2026-07-25T02:20:33.8400000Z</dcterms:modified>
</coreProperties>
</file>